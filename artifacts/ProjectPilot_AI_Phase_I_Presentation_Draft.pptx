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ProjectPilot AI as a proposed Phase I project. Make clear that the deck is a draft and that the team must replace placeholders and add real screenshots/results from its own Foundry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targets common student software-team workflow problems. Do not claim a formal survey or measured institutional problem unless the team conducts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tool use—not simply writing a clever topic prompt—is what makes the project meaningfully agentic. MCP is only part of the live product after Lab 7 has been implemented and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separation between the Streamlit frontend, Python integration client, Foundry agent, and its tools. Explain that guardrails and evaluation cross-cut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intended behaviour. During the final presentation, show a live trace for at least one tool call if it has actually been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data-engineering path: ingestion, validation, metrics, and reporting. Do not present the sample values as actual college results. If you demonstrate the agent, independently check its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must not contain invented evaluation scores. Walk the audience through the real planned tests and note which ones remain to be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is the reason the proposed project fits the training. Emphasize the difference between completing labs and integrating the capabilities into a final team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explaining the next actions and deliverables. Assign real tasks only after the team agrees who will perform them. The repository, report and presentation should all match the actual state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full clickable URLs are in the accompanying report and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502920" y="6510528"/>
            <a:ext cx="11155680" cy="0"/>
          </a:xfrm>
          <a:prstGeom prst="line">
            <a:avLst/>
          </a:prstGeom>
          <a:noFill/>
          <a:ln w="8890">
            <a:solidFill>
              <a:srgbClr val="D5DFEA"/>
            </a:solidFill>
            <a:prstDash val="solid"/>
          </a:ln>
        </p:spPr>
      </p:sp>
      <p:sp>
        <p:nvSpPr>
          <p:cNvPr id="3" name="Text 1"/>
          <p:cNvSpPr/>
          <p:nvPr/>
        </p:nvSpPr>
        <p:spPr>
          <a:xfrm>
            <a:off x="566928" y="6556248"/>
            <a:ext cx="5852160" cy="164592"/>
          </a:xfrm>
          <a:prstGeom prst="rect">
            <a:avLst/>
          </a:prstGeom>
          <a:noFill/>
          <a:ln/>
        </p:spPr>
        <p:txBody>
          <a:bodyPr wrap="square" lIns="0" tIns="0" rIns="0" bIns="0" rtlCol="0" anchor="ctr"/>
          <a:lstStyle/>
          <a:p>
            <a:pPr indent="0" marL="0">
              <a:buNone/>
            </a:pPr>
            <a:r>
              <a:rPr lang="en-US" sz="800" dirty="0">
                <a:solidFill>
                  <a:srgbClr val="607086"/>
                </a:solidFill>
                <a:latin typeface="Aptos" pitchFamily="34" charset="0"/>
                <a:ea typeface="Aptos" pitchFamily="34" charset="-122"/>
                <a:cs typeface="Aptos" pitchFamily="34" charset="-120"/>
              </a:rPr>
              <a:t>PROJECTPILOT AI  •  PHASE I DRAFT</a:t>
            </a:r>
            <a:endParaRPr lang="en-US" sz="8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3C"/>
        </a:solidFill>
      </p:bgPr>
    </p:bg>
    <p:spTree>
      <p:nvGrpSpPr>
        <p:cNvPr id="1" name=""/>
        <p:cNvGrpSpPr/>
        <p:nvPr/>
      </p:nvGrpSpPr>
      <p:grpSpPr>
        <a:xfrm>
          <a:off x="0" y="0"/>
          <a:ext cx="0" cy="0"/>
          <a:chOff x="0" y="0"/>
          <a:chExt cx="0" cy="0"/>
        </a:xfrm>
      </p:grpSpPr>
      <p:sp>
        <p:nvSpPr>
          <p:cNvPr id="2" name="Shape 0"/>
          <p:cNvSpPr/>
          <p:nvPr/>
        </p:nvSpPr>
        <p:spPr>
          <a:xfrm>
            <a:off x="7909560" y="0"/>
            <a:ext cx="4279392" cy="6858000"/>
          </a:xfrm>
          <a:prstGeom prst="rect">
            <a:avLst/>
          </a:prstGeom>
          <a:solidFill>
            <a:srgbClr val="1D3557"/>
          </a:solidFill>
          <a:ln w="12700">
            <a:solidFill>
              <a:srgbClr val="1D3557"/>
            </a:solidFill>
            <a:prstDash val="solid"/>
          </a:ln>
        </p:spPr>
      </p:sp>
      <p:sp>
        <p:nvSpPr>
          <p:cNvPr id="3" name="Shape 1"/>
          <p:cNvSpPr/>
          <p:nvPr/>
        </p:nvSpPr>
        <p:spPr>
          <a:xfrm rot="900000">
            <a:off x="8138160" y="594360"/>
            <a:ext cx="3474720" cy="3474720"/>
          </a:xfrm>
          <a:prstGeom prst="arc">
            <a:avLst/>
          </a:prstGeom>
          <a:solidFill>
            <a:srgbClr val="1D3557">
              <a:alpha val="0"/>
            </a:srgbClr>
          </a:solidFill>
          <a:ln w="27940">
            <a:solidFill>
              <a:srgbClr val="168C91">
                <a:alpha val="88000"/>
              </a:srgbClr>
            </a:solidFill>
            <a:prstDash val="solid"/>
          </a:ln>
        </p:spPr>
      </p:sp>
      <p:sp>
        <p:nvSpPr>
          <p:cNvPr id="4" name="Shape 2"/>
          <p:cNvSpPr/>
          <p:nvPr/>
        </p:nvSpPr>
        <p:spPr>
          <a:xfrm rot="2100000">
            <a:off x="8549640" y="987552"/>
            <a:ext cx="2651760" cy="2651760"/>
          </a:xfrm>
          <a:prstGeom prst="arc">
            <a:avLst/>
          </a:prstGeom>
          <a:solidFill>
            <a:srgbClr val="1D3557">
              <a:alpha val="0"/>
            </a:srgbClr>
          </a:solidFill>
          <a:ln w="20320">
            <a:solidFill>
              <a:srgbClr val="9BE3DC">
                <a:alpha val="92000"/>
              </a:srgbClr>
            </a:solidFill>
            <a:prstDash val="solid"/>
          </a:ln>
        </p:spPr>
      </p:sp>
      <p:sp>
        <p:nvSpPr>
          <p:cNvPr id="5" name="Shape 3"/>
          <p:cNvSpPr/>
          <p:nvPr/>
        </p:nvSpPr>
        <p:spPr>
          <a:xfrm>
            <a:off x="9217152" y="1673352"/>
            <a:ext cx="1051560" cy="1051560"/>
          </a:xfrm>
          <a:prstGeom prst="ellipse">
            <a:avLst/>
          </a:prstGeom>
          <a:solidFill>
            <a:srgbClr val="168C91"/>
          </a:solidFill>
          <a:ln w="15240">
            <a:solidFill>
              <a:srgbClr val="9BE3DC"/>
            </a:solidFill>
            <a:prstDash val="solid"/>
          </a:ln>
        </p:spPr>
      </p:sp>
      <p:sp>
        <p:nvSpPr>
          <p:cNvPr id="6" name="Text 4"/>
          <p:cNvSpPr txBox="1"/>
          <p:nvPr/>
        </p:nvSpPr>
        <p:spPr>
          <a:xfrm>
            <a:off x="658368" y="530352"/>
            <a:ext cx="6675120" cy="256032"/>
          </a:xfrm>
          <a:prstGeom prst="rect">
            <a:avLst/>
          </a:prstGeom>
          <a:noFill/>
          <a:ln/>
        </p:spPr>
        <p:txBody>
          <a:bodyPr wrap="square" lIns="0" tIns="0" rIns="0" bIns="0" rtlCol="0" anchor="ctr">
            <a:normAutofit/>
          </a:bodyPr>
          <a:lstStyle/>
          <a:p>
            <a:pPr algn="l" indent="0" marL="0">
              <a:lnSpc>
                <a:spcPct val="100000"/>
              </a:lnSpc>
              <a:buNone/>
            </a:pPr>
            <a:r>
              <a:rPr lang="en-US" sz="1000" b="1" spc="100" kern="0" dirty="0">
                <a:solidFill>
                  <a:srgbClr val="9BE3DC"/>
                </a:solidFill>
                <a:latin typeface="Aptos" pitchFamily="34" charset="0"/>
                <a:ea typeface="Aptos" pitchFamily="34" charset="-122"/>
                <a:cs typeface="Aptos" pitchFamily="34" charset="-120"/>
              </a:rPr>
              <a:t>SREENIDHI INSTITUTE OF SCIENCE AND TECHNOLOGY</a:t>
            </a:r>
            <a:endParaRPr lang="en-US" sz="1000" dirty="0"/>
          </a:p>
        </p:txBody>
      </p:sp>
      <p:sp>
        <p:nvSpPr>
          <p:cNvPr id="7" name="Text 5"/>
          <p:cNvSpPr txBox="1"/>
          <p:nvPr/>
        </p:nvSpPr>
        <p:spPr>
          <a:xfrm>
            <a:off x="658368" y="1024128"/>
            <a:ext cx="6858000" cy="274320"/>
          </a:xfrm>
          <a:prstGeom prst="rect">
            <a:avLst/>
          </a:prstGeom>
          <a:noFill/>
          <a:ln/>
        </p:spPr>
        <p:txBody>
          <a:bodyPr wrap="square" lIns="0" tIns="0" rIns="0" bIns="0" rtlCol="0" anchor="ctr">
            <a:normAutofit/>
          </a:bodyPr>
          <a:lstStyle/>
          <a:p>
            <a:pPr algn="l" indent="0" marL="0">
              <a:lnSpc>
                <a:spcPct val="100000"/>
              </a:lnSpc>
              <a:buNone/>
            </a:pPr>
            <a:r>
              <a:rPr lang="en-US" sz="1000" b="1" spc="50" kern="0" dirty="0">
                <a:solidFill>
                  <a:srgbClr val="C8D8EA"/>
                </a:solidFill>
                <a:latin typeface="Aptos" pitchFamily="34" charset="0"/>
                <a:ea typeface="Aptos" pitchFamily="34" charset="-122"/>
                <a:cs typeface="Aptos" pitchFamily="34" charset="-120"/>
              </a:rPr>
              <a:t>SKILL-BASED TRAINING  •  AGENTIC AI &amp; DATA ENGINEERING</a:t>
            </a:r>
            <a:endParaRPr lang="en-US" sz="1000" dirty="0"/>
          </a:p>
        </p:txBody>
      </p:sp>
      <p:sp>
        <p:nvSpPr>
          <p:cNvPr id="8" name="Text 6"/>
          <p:cNvSpPr txBox="1"/>
          <p:nvPr/>
        </p:nvSpPr>
        <p:spPr>
          <a:xfrm>
            <a:off x="658368" y="1847088"/>
            <a:ext cx="6766560" cy="804672"/>
          </a:xfrm>
          <a:prstGeom prst="rect">
            <a:avLst/>
          </a:prstGeom>
          <a:noFill/>
          <a:ln/>
        </p:spPr>
        <p:txBody>
          <a:bodyPr wrap="square" lIns="0" tIns="0" rIns="0" bIns="0" rtlCol="0" anchor="ctr">
            <a:normAutofit/>
          </a:bodyPr>
          <a:lstStyle/>
          <a:p>
            <a:pPr algn="l" indent="0" marL="0">
              <a:lnSpc>
                <a:spcPct val="100000"/>
              </a:lnSpc>
              <a:buNone/>
            </a:pPr>
            <a:r>
              <a:rPr lang="en-US" sz="3900" b="1" dirty="0">
                <a:solidFill>
                  <a:srgbClr val="FFFFFF"/>
                </a:solidFill>
                <a:latin typeface="Aptos Display" pitchFamily="34" charset="0"/>
                <a:ea typeface="Aptos Display" pitchFamily="34" charset="-122"/>
                <a:cs typeface="Aptos Display" pitchFamily="34" charset="-120"/>
              </a:rPr>
              <a:t>ProjectPilot AI</a:t>
            </a:r>
            <a:endParaRPr lang="en-US" sz="3900" dirty="0"/>
          </a:p>
        </p:txBody>
      </p:sp>
      <p:sp>
        <p:nvSpPr>
          <p:cNvPr id="9" name="Text 7"/>
          <p:cNvSpPr txBox="1"/>
          <p:nvPr/>
        </p:nvSpPr>
        <p:spPr>
          <a:xfrm>
            <a:off x="694944" y="2816352"/>
            <a:ext cx="6217920" cy="960120"/>
          </a:xfrm>
          <a:prstGeom prst="rect">
            <a:avLst/>
          </a:prstGeom>
          <a:noFill/>
          <a:ln/>
        </p:spPr>
        <p:txBody>
          <a:bodyPr wrap="square" lIns="0" tIns="0" rIns="0" bIns="0" rtlCol="0" anchor="ctr">
            <a:normAutofit/>
          </a:bodyPr>
          <a:lstStyle/>
          <a:p>
            <a:pPr algn="l" indent="0" marL="0">
              <a:lnSpc>
                <a:spcPct val="100000"/>
              </a:lnSpc>
              <a:buNone/>
            </a:pPr>
            <a:r>
              <a:rPr lang="en-US" sz="2300" dirty="0">
                <a:solidFill>
                  <a:srgbClr val="D9E7F5"/>
                </a:solidFill>
                <a:latin typeface="Aptos Display" pitchFamily="34" charset="0"/>
                <a:ea typeface="Aptos Display" pitchFamily="34" charset="-122"/>
                <a:cs typeface="Aptos Display" pitchFamily="34" charset="-120"/>
              </a:rPr>
              <a:t>Agentic Project Planning</a:t>
            </a:r>
            <a:endParaRPr lang="en-US" sz="2300" dirty="0"/>
          </a:p>
          <a:p>
            <a:pPr algn="l" indent="0" marL="0">
              <a:lnSpc>
                <a:spcPct val="100000"/>
              </a:lnSpc>
              <a:buNone/>
            </a:pPr>
            <a:r>
              <a:rPr lang="en-US" sz="2300" dirty="0">
                <a:solidFill>
                  <a:srgbClr val="D9E7F5"/>
                </a:solidFill>
                <a:latin typeface="Aptos Display" pitchFamily="34" charset="0"/>
                <a:ea typeface="Aptos Display" pitchFamily="34" charset="-122"/>
                <a:cs typeface="Aptos Display" pitchFamily="34" charset="-120"/>
              </a:rPr>
              <a:t>&amp; Data Insights Assistant</a:t>
            </a:r>
            <a:endParaRPr lang="en-US" sz="2300" dirty="0"/>
          </a:p>
        </p:txBody>
      </p:sp>
      <p:sp>
        <p:nvSpPr>
          <p:cNvPr id="10" name="Shape 8"/>
          <p:cNvSpPr/>
          <p:nvPr/>
        </p:nvSpPr>
        <p:spPr>
          <a:xfrm>
            <a:off x="694944" y="4069080"/>
            <a:ext cx="1051560" cy="0"/>
          </a:xfrm>
          <a:prstGeom prst="line">
            <a:avLst/>
          </a:prstGeom>
          <a:noFill/>
          <a:ln w="38100">
            <a:solidFill>
              <a:srgbClr val="F4A261"/>
            </a:solidFill>
            <a:prstDash val="solid"/>
          </a:ln>
        </p:spPr>
      </p:sp>
      <p:sp>
        <p:nvSpPr>
          <p:cNvPr id="11" name="Text 9"/>
          <p:cNvSpPr txBox="1"/>
          <p:nvPr/>
        </p:nvSpPr>
        <p:spPr>
          <a:xfrm>
            <a:off x="694944" y="4334256"/>
            <a:ext cx="6492240" cy="292608"/>
          </a:xfrm>
          <a:prstGeom prst="rect">
            <a:avLst/>
          </a:prstGeom>
          <a:noFill/>
          <a:ln/>
        </p:spPr>
        <p:txBody>
          <a:bodyPr wrap="square" lIns="0" tIns="0" rIns="0" bIns="0" rtlCol="0" anchor="ctr">
            <a:normAutofit/>
          </a:bodyPr>
          <a:lstStyle/>
          <a:p>
            <a:pPr algn="l" indent="0" marL="0">
              <a:lnSpc>
                <a:spcPct val="100000"/>
              </a:lnSpc>
              <a:buNone/>
            </a:pPr>
            <a:r>
              <a:rPr lang="en-US" sz="1200" b="1" spc="40" kern="0" dirty="0">
                <a:solidFill>
                  <a:srgbClr val="9BE3DC"/>
                </a:solidFill>
                <a:latin typeface="Aptos" pitchFamily="34" charset="0"/>
                <a:ea typeface="Aptos" pitchFamily="34" charset="-122"/>
                <a:cs typeface="Aptos" pitchFamily="34" charset="-120"/>
              </a:rPr>
              <a:t>PHASE I  |  PROJECT PROPOSAL &amp; TECHNICAL DESIGN</a:t>
            </a:r>
            <a:endParaRPr lang="en-US" sz="1200" dirty="0"/>
          </a:p>
        </p:txBody>
      </p:sp>
      <p:sp>
        <p:nvSpPr>
          <p:cNvPr id="12" name="Text 10"/>
          <p:cNvSpPr txBox="1"/>
          <p:nvPr/>
        </p:nvSpPr>
        <p:spPr>
          <a:xfrm>
            <a:off x="694944" y="4882896"/>
            <a:ext cx="6675120" cy="310896"/>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C8D8EA"/>
                </a:solidFill>
                <a:latin typeface="Aptos" pitchFamily="34" charset="0"/>
                <a:ea typeface="Aptos" pitchFamily="34" charset="-122"/>
                <a:cs typeface="Aptos" pitchFamily="34" charset="-120"/>
              </a:rPr>
              <a:t>Team: [Add team number]   •   Members: [Add actual team members]</a:t>
            </a:r>
            <a:endParaRPr lang="en-US" sz="1100" dirty="0"/>
          </a:p>
        </p:txBody>
      </p:sp>
      <p:sp>
        <p:nvSpPr>
          <p:cNvPr id="13" name="Text 11"/>
          <p:cNvSpPr txBox="1"/>
          <p:nvPr/>
        </p:nvSpPr>
        <p:spPr>
          <a:xfrm>
            <a:off x="694944" y="5943600"/>
            <a:ext cx="6995160" cy="292608"/>
          </a:xfrm>
          <a:prstGeom prst="rect">
            <a:avLst/>
          </a:prstGeom>
          <a:noFill/>
          <a:ln/>
        </p:spPr>
        <p:txBody>
          <a:bodyPr wrap="square" lIns="0" tIns="0" rIns="0" bIns="0" rtlCol="0" anchor="ctr">
            <a:normAutofit/>
          </a:bodyPr>
          <a:lstStyle/>
          <a:p>
            <a:pPr algn="l" indent="0" marL="0">
              <a:lnSpc>
                <a:spcPct val="100000"/>
              </a:lnSpc>
              <a:buNone/>
            </a:pPr>
            <a:r>
              <a:rPr lang="en-US" sz="1000" i="1" dirty="0">
                <a:solidFill>
                  <a:srgbClr val="F7C6A6"/>
                </a:solidFill>
                <a:latin typeface="Aptos" pitchFamily="34" charset="0"/>
                <a:ea typeface="Aptos" pitchFamily="34" charset="-122"/>
                <a:cs typeface="Aptos" pitchFamily="34" charset="-120"/>
              </a:rPr>
              <a:t>Draft — live Azure deployment and evaluation must be verified by the team.</a:t>
            </a:r>
            <a:endParaRPr lang="en-US" sz="1000" dirty="0"/>
          </a:p>
        </p:txBody>
      </p:sp>
      <p:sp>
        <p:nvSpPr>
          <p:cNvPr id="14" name="Text 12"/>
          <p:cNvSpPr txBox="1"/>
          <p:nvPr/>
        </p:nvSpPr>
        <p:spPr>
          <a:xfrm>
            <a:off x="8183880" y="5230368"/>
            <a:ext cx="3611880" cy="246888"/>
          </a:xfrm>
          <a:prstGeom prst="rect">
            <a:avLst/>
          </a:prstGeom>
          <a:noFill/>
          <a:ln/>
        </p:spPr>
        <p:txBody>
          <a:bodyPr wrap="square" lIns="0" tIns="0" rIns="0" bIns="0" rtlCol="0" anchor="ctr">
            <a:normAutofit/>
          </a:bodyPr>
          <a:lstStyle/>
          <a:p>
            <a:pPr algn="ctr" indent="0" marL="0">
              <a:lnSpc>
                <a:spcPct val="100000"/>
              </a:lnSpc>
              <a:buNone/>
            </a:pPr>
            <a:r>
              <a:rPr lang="en-US" sz="1000" b="1" spc="140" kern="0" dirty="0">
                <a:solidFill>
                  <a:srgbClr val="9BE3DC"/>
                </a:solidFill>
                <a:latin typeface="Aptos" pitchFamily="34" charset="0"/>
                <a:ea typeface="Aptos" pitchFamily="34" charset="-122"/>
                <a:cs typeface="Aptos" pitchFamily="34" charset="-120"/>
              </a:rPr>
              <a:t>FOUNDRY  /  AGENTS  /  TOOLS  /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01 / PROBLEM</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Project ideas are easy. Execution is harder.</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Student teams need a repeatable way to turn broad ideas into scoped, testable work.</a:t>
            </a:r>
            <a:endParaRPr lang="en-US" sz="1200" dirty="0"/>
          </a:p>
        </p:txBody>
      </p:sp>
      <p:sp>
        <p:nvSpPr>
          <p:cNvPr id="5" name="Shape 3"/>
          <p:cNvSpPr/>
          <p:nvPr/>
        </p:nvSpPr>
        <p:spPr>
          <a:xfrm>
            <a:off x="640080" y="1828800"/>
            <a:ext cx="3474720" cy="1847088"/>
          </a:xfrm>
          <a:prstGeom prst="roundRect">
            <a:avLst>
              <a:gd name="adj" fmla="val 5941"/>
            </a:avLst>
          </a:prstGeom>
          <a:solidFill>
            <a:srgbClr val="FFFFFF"/>
          </a:solidFill>
          <a:ln w="10160">
            <a:solidFill>
              <a:srgbClr val="D8E2EE"/>
            </a:solidFill>
            <a:prstDash val="solid"/>
          </a:ln>
        </p:spPr>
      </p:sp>
      <p:sp>
        <p:nvSpPr>
          <p:cNvPr id="6" name="Shape 4"/>
          <p:cNvSpPr/>
          <p:nvPr/>
        </p:nvSpPr>
        <p:spPr>
          <a:xfrm>
            <a:off x="658368" y="1847088"/>
            <a:ext cx="64008" cy="1810512"/>
          </a:xfrm>
          <a:prstGeom prst="roundRect">
            <a:avLst>
              <a:gd name="adj" fmla="val 42857"/>
            </a:avLst>
          </a:prstGeom>
          <a:solidFill>
            <a:srgbClr val="F4A261"/>
          </a:solidFill>
          <a:ln w="12700">
            <a:solidFill>
              <a:srgbClr val="F4A261">
                <a:alpha val="0"/>
              </a:srgbClr>
            </a:solidFill>
            <a:prstDash val="solid"/>
          </a:ln>
        </p:spPr>
      </p:sp>
      <p:sp>
        <p:nvSpPr>
          <p:cNvPr id="7" name="Text 5"/>
          <p:cNvSpPr txBox="1"/>
          <p:nvPr/>
        </p:nvSpPr>
        <p:spPr>
          <a:xfrm>
            <a:off x="850392" y="1965960"/>
            <a:ext cx="3081528"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Unclear scope</a:t>
            </a:r>
            <a:endParaRPr lang="en-US" sz="1600" dirty="0"/>
          </a:p>
        </p:txBody>
      </p:sp>
      <p:sp>
        <p:nvSpPr>
          <p:cNvPr id="8" name="Text 6"/>
          <p:cNvSpPr txBox="1"/>
          <p:nvPr/>
        </p:nvSpPr>
        <p:spPr>
          <a:xfrm>
            <a:off x="850392" y="2322576"/>
            <a:ext cx="3063240" cy="1225296"/>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53657C"/>
                </a:solidFill>
                <a:latin typeface="Aptos" pitchFamily="34" charset="0"/>
                <a:ea typeface="Aptos" pitchFamily="34" charset="-122"/>
                <a:cs typeface="Aptos" pitchFamily="34" charset="-120"/>
              </a:rPr>
              <a:t>A broad idea often lacks a clear user, MVP, architecture, and acceptance criteria.</a:t>
            </a:r>
            <a:endParaRPr lang="en-US" sz="1150" dirty="0"/>
          </a:p>
        </p:txBody>
      </p:sp>
      <p:sp>
        <p:nvSpPr>
          <p:cNvPr id="9" name="Shape 7"/>
          <p:cNvSpPr/>
          <p:nvPr/>
        </p:nvSpPr>
        <p:spPr>
          <a:xfrm>
            <a:off x="4370832" y="1828800"/>
            <a:ext cx="3474720" cy="1847088"/>
          </a:xfrm>
          <a:prstGeom prst="roundRect">
            <a:avLst>
              <a:gd name="adj" fmla="val 5941"/>
            </a:avLst>
          </a:prstGeom>
          <a:solidFill>
            <a:srgbClr val="FFFFFF"/>
          </a:solidFill>
          <a:ln w="10160">
            <a:solidFill>
              <a:srgbClr val="D8E2EE"/>
            </a:solidFill>
            <a:prstDash val="solid"/>
          </a:ln>
        </p:spPr>
      </p:sp>
      <p:sp>
        <p:nvSpPr>
          <p:cNvPr id="10" name="Shape 8"/>
          <p:cNvSpPr/>
          <p:nvPr/>
        </p:nvSpPr>
        <p:spPr>
          <a:xfrm>
            <a:off x="4389120" y="1847088"/>
            <a:ext cx="64008" cy="1810512"/>
          </a:xfrm>
          <a:prstGeom prst="roundRect">
            <a:avLst>
              <a:gd name="adj" fmla="val 42857"/>
            </a:avLst>
          </a:prstGeom>
          <a:solidFill>
            <a:srgbClr val="168C91"/>
          </a:solidFill>
          <a:ln w="12700">
            <a:solidFill>
              <a:srgbClr val="168C91">
                <a:alpha val="0"/>
              </a:srgbClr>
            </a:solidFill>
            <a:prstDash val="solid"/>
          </a:ln>
        </p:spPr>
      </p:sp>
      <p:sp>
        <p:nvSpPr>
          <p:cNvPr id="11" name="Text 9"/>
          <p:cNvSpPr txBox="1"/>
          <p:nvPr/>
        </p:nvSpPr>
        <p:spPr>
          <a:xfrm>
            <a:off x="4581144" y="1965960"/>
            <a:ext cx="3081528"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Scattered knowledge</a:t>
            </a:r>
            <a:endParaRPr lang="en-US" sz="1600" dirty="0"/>
          </a:p>
        </p:txBody>
      </p:sp>
      <p:sp>
        <p:nvSpPr>
          <p:cNvPr id="12" name="Text 10"/>
          <p:cNvSpPr txBox="1"/>
          <p:nvPr/>
        </p:nvSpPr>
        <p:spPr>
          <a:xfrm>
            <a:off x="4581144" y="2322576"/>
            <a:ext cx="3063240" cy="1225296"/>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53657C"/>
                </a:solidFill>
                <a:latin typeface="Aptos" pitchFamily="34" charset="0"/>
                <a:ea typeface="Aptos" pitchFamily="34" charset="-122"/>
                <a:cs typeface="Aptos" pitchFamily="34" charset="-120"/>
              </a:rPr>
              <a:t>Requirements, technical notes, documentation, and decisions live in separate places.</a:t>
            </a:r>
            <a:endParaRPr lang="en-US" sz="1150" dirty="0"/>
          </a:p>
        </p:txBody>
      </p:sp>
      <p:sp>
        <p:nvSpPr>
          <p:cNvPr id="13" name="Shape 11"/>
          <p:cNvSpPr/>
          <p:nvPr/>
        </p:nvSpPr>
        <p:spPr>
          <a:xfrm>
            <a:off x="8101584" y="1828800"/>
            <a:ext cx="3456432" cy="1847088"/>
          </a:xfrm>
          <a:prstGeom prst="roundRect">
            <a:avLst>
              <a:gd name="adj" fmla="val 5941"/>
            </a:avLst>
          </a:prstGeom>
          <a:solidFill>
            <a:srgbClr val="FFFFFF"/>
          </a:solidFill>
          <a:ln w="10160">
            <a:solidFill>
              <a:srgbClr val="D8E2EE"/>
            </a:solidFill>
            <a:prstDash val="solid"/>
          </a:ln>
        </p:spPr>
      </p:sp>
      <p:sp>
        <p:nvSpPr>
          <p:cNvPr id="14" name="Shape 12"/>
          <p:cNvSpPr/>
          <p:nvPr/>
        </p:nvSpPr>
        <p:spPr>
          <a:xfrm>
            <a:off x="8119872" y="1847088"/>
            <a:ext cx="64008" cy="1810512"/>
          </a:xfrm>
          <a:prstGeom prst="roundRect">
            <a:avLst>
              <a:gd name="adj" fmla="val 42857"/>
            </a:avLst>
          </a:prstGeom>
          <a:solidFill>
            <a:srgbClr val="1D3557"/>
          </a:solidFill>
          <a:ln w="12700">
            <a:solidFill>
              <a:srgbClr val="1D3557">
                <a:alpha val="0"/>
              </a:srgbClr>
            </a:solidFill>
            <a:prstDash val="solid"/>
          </a:ln>
        </p:spPr>
      </p:sp>
      <p:sp>
        <p:nvSpPr>
          <p:cNvPr id="15" name="Text 13"/>
          <p:cNvSpPr txBox="1"/>
          <p:nvPr/>
        </p:nvSpPr>
        <p:spPr>
          <a:xfrm>
            <a:off x="8311896" y="196596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Weak project visibility</a:t>
            </a:r>
            <a:endParaRPr lang="en-US" sz="1600" dirty="0"/>
          </a:p>
        </p:txBody>
      </p:sp>
      <p:sp>
        <p:nvSpPr>
          <p:cNvPr id="16" name="Text 14"/>
          <p:cNvSpPr txBox="1"/>
          <p:nvPr/>
        </p:nvSpPr>
        <p:spPr>
          <a:xfrm>
            <a:off x="8311896" y="2322576"/>
            <a:ext cx="3044952" cy="1225296"/>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53657C"/>
                </a:solidFill>
                <a:latin typeface="Aptos" pitchFamily="34" charset="0"/>
                <a:ea typeface="Aptos" pitchFamily="34" charset="-122"/>
                <a:cs typeface="Aptos" pitchFamily="34" charset="-120"/>
              </a:rPr>
              <a:t>Spreadsheet metrics are hard to translate into risks, priorities, and next actions.</a:t>
            </a:r>
            <a:endParaRPr lang="en-US" sz="1150" dirty="0"/>
          </a:p>
        </p:txBody>
      </p:sp>
      <p:sp>
        <p:nvSpPr>
          <p:cNvPr id="17" name="Shape 15"/>
          <p:cNvSpPr/>
          <p:nvPr/>
        </p:nvSpPr>
        <p:spPr>
          <a:xfrm>
            <a:off x="658368" y="4160520"/>
            <a:ext cx="10899648" cy="1143000"/>
          </a:xfrm>
          <a:prstGeom prst="roundRect">
            <a:avLst>
              <a:gd name="adj" fmla="val 12000"/>
            </a:avLst>
          </a:prstGeom>
          <a:solidFill>
            <a:srgbClr val="13213C"/>
          </a:solidFill>
          <a:ln w="12700">
            <a:solidFill>
              <a:srgbClr val="13213C"/>
            </a:solidFill>
            <a:prstDash val="solid"/>
          </a:ln>
        </p:spPr>
      </p:sp>
      <p:sp>
        <p:nvSpPr>
          <p:cNvPr id="18" name="Text 16"/>
          <p:cNvSpPr txBox="1"/>
          <p:nvPr/>
        </p:nvSpPr>
        <p:spPr>
          <a:xfrm>
            <a:off x="914400" y="4407408"/>
            <a:ext cx="1417320" cy="219456"/>
          </a:xfrm>
          <a:prstGeom prst="rect">
            <a:avLst/>
          </a:prstGeom>
          <a:noFill/>
          <a:ln/>
        </p:spPr>
        <p:txBody>
          <a:bodyPr wrap="square" lIns="0" tIns="0" rIns="0" bIns="0" rtlCol="0" anchor="ctr">
            <a:normAutofit/>
          </a:bodyPr>
          <a:lstStyle/>
          <a:p>
            <a:pPr algn="l" indent="0" marL="0">
              <a:lnSpc>
                <a:spcPct val="100000"/>
              </a:lnSpc>
              <a:buNone/>
            </a:pPr>
            <a:r>
              <a:rPr lang="en-US" sz="1000" b="1" spc="100" kern="0" dirty="0">
                <a:solidFill>
                  <a:srgbClr val="9BE3DC"/>
                </a:solidFill>
                <a:latin typeface="Aptos" pitchFamily="34" charset="0"/>
                <a:ea typeface="Aptos" pitchFamily="34" charset="-122"/>
                <a:cs typeface="Aptos" pitchFamily="34" charset="-120"/>
              </a:rPr>
              <a:t>PROJECT NEED</a:t>
            </a:r>
            <a:endParaRPr lang="en-US" sz="1000" dirty="0"/>
          </a:p>
        </p:txBody>
      </p:sp>
      <p:sp>
        <p:nvSpPr>
          <p:cNvPr id="19" name="Text 17"/>
          <p:cNvSpPr txBox="1"/>
          <p:nvPr/>
        </p:nvSpPr>
        <p:spPr>
          <a:xfrm>
            <a:off x="2487168" y="4315968"/>
            <a:ext cx="8366760" cy="457200"/>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Aptos" pitchFamily="34" charset="0"/>
                <a:ea typeface="Aptos" pitchFamily="34" charset="-122"/>
                <a:cs typeface="Aptos" pitchFamily="34" charset="-120"/>
              </a:rPr>
              <a:t>One assistant that plans, grounds answers in documents, analyzes data, and retrieves trusted technical guidance.</a:t>
            </a:r>
            <a:endParaRPr lang="en-US" sz="1700" dirty="0"/>
          </a:p>
        </p:txBody>
      </p:sp>
      <p:sp>
        <p:nvSpPr>
          <p:cNvPr id="20" name="Shape 18"/>
          <p:cNvSpPr/>
          <p:nvPr/>
        </p:nvSpPr>
        <p:spPr>
          <a:xfrm>
            <a:off x="713232" y="5623560"/>
            <a:ext cx="2212848" cy="292608"/>
          </a:xfrm>
          <a:prstGeom prst="roundRect">
            <a:avLst>
              <a:gd name="adj" fmla="val 43750"/>
            </a:avLst>
          </a:prstGeom>
          <a:solidFill>
            <a:srgbClr val="E7F4F4"/>
          </a:solidFill>
          <a:ln w="12700">
            <a:solidFill>
              <a:srgbClr val="E7F4F4">
                <a:alpha val="0"/>
              </a:srgbClr>
            </a:solidFill>
            <a:prstDash val="solid"/>
          </a:ln>
        </p:spPr>
      </p:sp>
      <p:sp>
        <p:nvSpPr>
          <p:cNvPr id="21" name="Text 19"/>
          <p:cNvSpPr txBox="1"/>
          <p:nvPr/>
        </p:nvSpPr>
        <p:spPr>
          <a:xfrm>
            <a:off x="786384" y="5650992"/>
            <a:ext cx="206654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68C91"/>
                </a:solidFill>
                <a:latin typeface="Aptos" pitchFamily="34" charset="0"/>
                <a:ea typeface="Aptos" pitchFamily="34" charset="-122"/>
                <a:cs typeface="Aptos" pitchFamily="34" charset="-120"/>
              </a:rPr>
              <a:t>Student software-team scenario</a:t>
            </a:r>
            <a:endParaRPr lang="en-US" sz="900" dirty="0"/>
          </a:p>
        </p:txBody>
      </p:sp>
      <p:sp>
        <p:nvSpPr>
          <p:cNvPr id="22" name="Shape 20"/>
          <p:cNvSpPr/>
          <p:nvPr/>
        </p:nvSpPr>
        <p:spPr>
          <a:xfrm>
            <a:off x="3063240" y="5623560"/>
            <a:ext cx="1737360" cy="292608"/>
          </a:xfrm>
          <a:prstGeom prst="roundRect">
            <a:avLst>
              <a:gd name="adj" fmla="val 43750"/>
            </a:avLst>
          </a:prstGeom>
          <a:solidFill>
            <a:srgbClr val="EAF0F6"/>
          </a:solidFill>
          <a:ln w="12700">
            <a:solidFill>
              <a:srgbClr val="EAF0F6">
                <a:alpha val="0"/>
              </a:srgbClr>
            </a:solidFill>
            <a:prstDash val="solid"/>
          </a:ln>
        </p:spPr>
      </p:sp>
      <p:sp>
        <p:nvSpPr>
          <p:cNvPr id="23" name="Text 21"/>
          <p:cNvSpPr txBox="1"/>
          <p:nvPr/>
        </p:nvSpPr>
        <p:spPr>
          <a:xfrm>
            <a:off x="3136392" y="5650992"/>
            <a:ext cx="1591056"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53657C"/>
                </a:solidFill>
                <a:latin typeface="Aptos" pitchFamily="34" charset="0"/>
                <a:ea typeface="Aptos" pitchFamily="34" charset="-122"/>
                <a:cs typeface="Aptos" pitchFamily="34" charset="-120"/>
              </a:rPr>
              <a:t>Synthetic sample data</a:t>
            </a:r>
            <a:endParaRPr lang="en-US" sz="9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02 / SOLUTION</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A planning assistant with tools</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ProjectPilot AI is designed to go beyond a plain chatbot by using a configured agent and task-specific tools.</a:t>
            </a:r>
            <a:endParaRPr lang="en-US" sz="1200" dirty="0"/>
          </a:p>
        </p:txBody>
      </p:sp>
      <p:sp>
        <p:nvSpPr>
          <p:cNvPr id="5" name="Shape 3"/>
          <p:cNvSpPr/>
          <p:nvPr/>
        </p:nvSpPr>
        <p:spPr>
          <a:xfrm>
            <a:off x="658368" y="1783080"/>
            <a:ext cx="5285232" cy="1417320"/>
          </a:xfrm>
          <a:prstGeom prst="roundRect">
            <a:avLst>
              <a:gd name="adj" fmla="val 7742"/>
            </a:avLst>
          </a:prstGeom>
          <a:solidFill>
            <a:srgbClr val="FFFFFF"/>
          </a:solidFill>
          <a:ln w="10160">
            <a:solidFill>
              <a:srgbClr val="D8E2EE"/>
            </a:solidFill>
            <a:prstDash val="solid"/>
          </a:ln>
        </p:spPr>
      </p:sp>
      <p:sp>
        <p:nvSpPr>
          <p:cNvPr id="6" name="Shape 4"/>
          <p:cNvSpPr/>
          <p:nvPr/>
        </p:nvSpPr>
        <p:spPr>
          <a:xfrm>
            <a:off x="676656" y="1801368"/>
            <a:ext cx="64008" cy="1380744"/>
          </a:xfrm>
          <a:prstGeom prst="roundRect">
            <a:avLst>
              <a:gd name="adj" fmla="val 42857"/>
            </a:avLst>
          </a:prstGeom>
          <a:solidFill>
            <a:srgbClr val="168C91"/>
          </a:solidFill>
          <a:ln w="12700">
            <a:solidFill>
              <a:srgbClr val="168C91">
                <a:alpha val="0"/>
              </a:srgbClr>
            </a:solidFill>
            <a:prstDash val="solid"/>
          </a:ln>
        </p:spPr>
      </p:sp>
      <p:sp>
        <p:nvSpPr>
          <p:cNvPr id="7" name="Text 5"/>
          <p:cNvSpPr txBox="1"/>
          <p:nvPr/>
        </p:nvSpPr>
        <p:spPr>
          <a:xfrm>
            <a:off x="868680" y="1920240"/>
            <a:ext cx="48920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Plan</a:t>
            </a:r>
            <a:endParaRPr lang="en-US" sz="1600" dirty="0"/>
          </a:p>
        </p:txBody>
      </p:sp>
      <p:sp>
        <p:nvSpPr>
          <p:cNvPr id="8" name="Text 6"/>
          <p:cNvSpPr txBox="1"/>
          <p:nvPr/>
        </p:nvSpPr>
        <p:spPr>
          <a:xfrm>
            <a:off x="868680" y="2276856"/>
            <a:ext cx="4873752" cy="795528"/>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Turn an idea into a problem statement, MVP, architecture, milestones, risks, and evaluation plan.</a:t>
            </a:r>
            <a:endParaRPr lang="en-US" sz="1200" dirty="0"/>
          </a:p>
        </p:txBody>
      </p:sp>
      <p:sp>
        <p:nvSpPr>
          <p:cNvPr id="9" name="Shape 7"/>
          <p:cNvSpPr/>
          <p:nvPr/>
        </p:nvSpPr>
        <p:spPr>
          <a:xfrm>
            <a:off x="6199632" y="1783080"/>
            <a:ext cx="5285232" cy="1417320"/>
          </a:xfrm>
          <a:prstGeom prst="roundRect">
            <a:avLst>
              <a:gd name="adj" fmla="val 7742"/>
            </a:avLst>
          </a:prstGeom>
          <a:solidFill>
            <a:srgbClr val="FFFFFF"/>
          </a:solidFill>
          <a:ln w="10160">
            <a:solidFill>
              <a:srgbClr val="D8E2EE"/>
            </a:solidFill>
            <a:prstDash val="solid"/>
          </a:ln>
        </p:spPr>
      </p:sp>
      <p:sp>
        <p:nvSpPr>
          <p:cNvPr id="10" name="Shape 8"/>
          <p:cNvSpPr/>
          <p:nvPr/>
        </p:nvSpPr>
        <p:spPr>
          <a:xfrm>
            <a:off x="6217920" y="1801368"/>
            <a:ext cx="64008" cy="1380744"/>
          </a:xfrm>
          <a:prstGeom prst="roundRect">
            <a:avLst>
              <a:gd name="adj" fmla="val 42857"/>
            </a:avLst>
          </a:prstGeom>
          <a:solidFill>
            <a:srgbClr val="1D3557"/>
          </a:solidFill>
          <a:ln w="12700">
            <a:solidFill>
              <a:srgbClr val="1D3557">
                <a:alpha val="0"/>
              </a:srgbClr>
            </a:solidFill>
            <a:prstDash val="solid"/>
          </a:ln>
        </p:spPr>
      </p:sp>
      <p:sp>
        <p:nvSpPr>
          <p:cNvPr id="11" name="Text 9"/>
          <p:cNvSpPr txBox="1"/>
          <p:nvPr/>
        </p:nvSpPr>
        <p:spPr>
          <a:xfrm>
            <a:off x="6409944" y="1920240"/>
            <a:ext cx="48920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Ground</a:t>
            </a:r>
            <a:endParaRPr lang="en-US" sz="1600" dirty="0"/>
          </a:p>
        </p:txBody>
      </p:sp>
      <p:sp>
        <p:nvSpPr>
          <p:cNvPr id="12" name="Text 10"/>
          <p:cNvSpPr txBox="1"/>
          <p:nvPr/>
        </p:nvSpPr>
        <p:spPr>
          <a:xfrm>
            <a:off x="6409944" y="2276856"/>
            <a:ext cx="4873752" cy="795528"/>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Answer questions from approved project documents using File Search, with uncertainty called out.</a:t>
            </a:r>
            <a:endParaRPr lang="en-US" sz="1200" dirty="0"/>
          </a:p>
        </p:txBody>
      </p:sp>
      <p:sp>
        <p:nvSpPr>
          <p:cNvPr id="13" name="Shape 11"/>
          <p:cNvSpPr/>
          <p:nvPr/>
        </p:nvSpPr>
        <p:spPr>
          <a:xfrm>
            <a:off x="658368" y="3520440"/>
            <a:ext cx="5285232" cy="1417320"/>
          </a:xfrm>
          <a:prstGeom prst="roundRect">
            <a:avLst>
              <a:gd name="adj" fmla="val 7742"/>
            </a:avLst>
          </a:prstGeom>
          <a:solidFill>
            <a:srgbClr val="FFFFFF"/>
          </a:solidFill>
          <a:ln w="10160">
            <a:solidFill>
              <a:srgbClr val="D8E2EE"/>
            </a:solidFill>
            <a:prstDash val="solid"/>
          </a:ln>
        </p:spPr>
      </p:sp>
      <p:sp>
        <p:nvSpPr>
          <p:cNvPr id="14" name="Shape 12"/>
          <p:cNvSpPr/>
          <p:nvPr/>
        </p:nvSpPr>
        <p:spPr>
          <a:xfrm>
            <a:off x="676656" y="3538728"/>
            <a:ext cx="64008" cy="1380744"/>
          </a:xfrm>
          <a:prstGeom prst="roundRect">
            <a:avLst>
              <a:gd name="adj" fmla="val 42857"/>
            </a:avLst>
          </a:prstGeom>
          <a:solidFill>
            <a:srgbClr val="F4A261"/>
          </a:solidFill>
          <a:ln w="12700">
            <a:solidFill>
              <a:srgbClr val="F4A261">
                <a:alpha val="0"/>
              </a:srgbClr>
            </a:solidFill>
            <a:prstDash val="solid"/>
          </a:ln>
        </p:spPr>
      </p:sp>
      <p:sp>
        <p:nvSpPr>
          <p:cNvPr id="15" name="Text 13"/>
          <p:cNvSpPr txBox="1"/>
          <p:nvPr/>
        </p:nvSpPr>
        <p:spPr>
          <a:xfrm>
            <a:off x="868680" y="3657600"/>
            <a:ext cx="48920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Analyze</a:t>
            </a:r>
            <a:endParaRPr lang="en-US" sz="1600" dirty="0"/>
          </a:p>
        </p:txBody>
      </p:sp>
      <p:sp>
        <p:nvSpPr>
          <p:cNvPr id="16" name="Text 14"/>
          <p:cNvSpPr txBox="1"/>
          <p:nvPr/>
        </p:nvSpPr>
        <p:spPr>
          <a:xfrm>
            <a:off x="868680" y="4014216"/>
            <a:ext cx="4873752" cy="795528"/>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Use Code Interpreter to calculate and visualize project metrics from a CSV.</a:t>
            </a:r>
            <a:endParaRPr lang="en-US" sz="1200" dirty="0"/>
          </a:p>
        </p:txBody>
      </p:sp>
      <p:sp>
        <p:nvSpPr>
          <p:cNvPr id="17" name="Shape 15"/>
          <p:cNvSpPr/>
          <p:nvPr/>
        </p:nvSpPr>
        <p:spPr>
          <a:xfrm>
            <a:off x="6199632" y="3520440"/>
            <a:ext cx="5285232" cy="1417320"/>
          </a:xfrm>
          <a:prstGeom prst="roundRect">
            <a:avLst>
              <a:gd name="adj" fmla="val 7742"/>
            </a:avLst>
          </a:prstGeom>
          <a:solidFill>
            <a:srgbClr val="FFFFFF"/>
          </a:solidFill>
          <a:ln w="10160">
            <a:solidFill>
              <a:srgbClr val="D8E2EE"/>
            </a:solidFill>
            <a:prstDash val="solid"/>
          </a:ln>
        </p:spPr>
      </p:sp>
      <p:sp>
        <p:nvSpPr>
          <p:cNvPr id="18" name="Shape 16"/>
          <p:cNvSpPr/>
          <p:nvPr/>
        </p:nvSpPr>
        <p:spPr>
          <a:xfrm>
            <a:off x="6217920" y="3538728"/>
            <a:ext cx="64008" cy="1380744"/>
          </a:xfrm>
          <a:prstGeom prst="roundRect">
            <a:avLst>
              <a:gd name="adj" fmla="val 42857"/>
            </a:avLst>
          </a:prstGeom>
          <a:solidFill>
            <a:srgbClr val="287A63"/>
          </a:solidFill>
          <a:ln w="12700">
            <a:solidFill>
              <a:srgbClr val="287A63">
                <a:alpha val="0"/>
              </a:srgbClr>
            </a:solidFill>
            <a:prstDash val="solid"/>
          </a:ln>
        </p:spPr>
      </p:sp>
      <p:sp>
        <p:nvSpPr>
          <p:cNvPr id="19" name="Text 17"/>
          <p:cNvSpPr txBox="1"/>
          <p:nvPr/>
        </p:nvSpPr>
        <p:spPr>
          <a:xfrm>
            <a:off x="6409944" y="3657600"/>
            <a:ext cx="48920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Research</a:t>
            </a:r>
            <a:endParaRPr lang="en-US" sz="1600" dirty="0"/>
          </a:p>
        </p:txBody>
      </p:sp>
      <p:sp>
        <p:nvSpPr>
          <p:cNvPr id="20" name="Text 18"/>
          <p:cNvSpPr txBox="1"/>
          <p:nvPr/>
        </p:nvSpPr>
        <p:spPr>
          <a:xfrm>
            <a:off x="6409944" y="4014216"/>
            <a:ext cx="4873752" cy="795528"/>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Use the Microsoft Learn MCP server for current official technical documentation when configured.</a:t>
            </a:r>
            <a:endParaRPr lang="en-US" sz="1200" dirty="0"/>
          </a:p>
        </p:txBody>
      </p:sp>
      <p:sp>
        <p:nvSpPr>
          <p:cNvPr id="21" name="Text 19"/>
          <p:cNvSpPr txBox="1"/>
          <p:nvPr/>
        </p:nvSpPr>
        <p:spPr>
          <a:xfrm>
            <a:off x="713232" y="5413248"/>
            <a:ext cx="1353312" cy="256032"/>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68C91"/>
                </a:solidFill>
                <a:latin typeface="Aptos" pitchFamily="34" charset="0"/>
                <a:ea typeface="Aptos" pitchFamily="34" charset="-122"/>
                <a:cs typeface="Aptos" pitchFamily="34" charset="-120"/>
              </a:rPr>
              <a:t>Design principle</a:t>
            </a:r>
            <a:endParaRPr lang="en-US" sz="1100" dirty="0"/>
          </a:p>
        </p:txBody>
      </p:sp>
      <p:sp>
        <p:nvSpPr>
          <p:cNvPr id="22" name="Text 20"/>
          <p:cNvSpPr txBox="1"/>
          <p:nvPr/>
        </p:nvSpPr>
        <p:spPr>
          <a:xfrm>
            <a:off x="2057400" y="5376672"/>
            <a:ext cx="8869680" cy="38404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13213C"/>
                </a:solidFill>
                <a:latin typeface="Aptos" pitchFamily="34" charset="0"/>
                <a:ea typeface="Aptos" pitchFamily="34" charset="-122"/>
                <a:cs typeface="Aptos" pitchFamily="34" charset="-120"/>
              </a:rPr>
              <a:t>The UI does not magically create tools. Each capability must be configured, invoked, and tested in Foundry.</a:t>
            </a:r>
            <a:endParaRPr lang="en-US" sz="14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03 / ARCHITECTURE</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A clear path from prompt to evidence</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The web app is a separate client; Foundry hosts the agent and its configured tools.</a:t>
            </a:r>
            <a:endParaRPr lang="en-US" sz="1200" dirty="0"/>
          </a:p>
        </p:txBody>
      </p:sp>
      <p:sp>
        <p:nvSpPr>
          <p:cNvPr id="5" name="Shape 3"/>
          <p:cNvSpPr/>
          <p:nvPr/>
        </p:nvSpPr>
        <p:spPr>
          <a:xfrm>
            <a:off x="658368" y="2130552"/>
            <a:ext cx="1874520" cy="1508760"/>
          </a:xfrm>
          <a:prstGeom prst="roundRect">
            <a:avLst>
              <a:gd name="adj" fmla="val 8485"/>
            </a:avLst>
          </a:prstGeom>
          <a:solidFill>
            <a:srgbClr val="E7F4F4"/>
          </a:solidFill>
          <a:ln w="13970">
            <a:solidFill>
              <a:srgbClr val="168C91"/>
            </a:solidFill>
            <a:prstDash val="solid"/>
          </a:ln>
        </p:spPr>
      </p:sp>
      <p:sp>
        <p:nvSpPr>
          <p:cNvPr id="6" name="Text 4"/>
          <p:cNvSpPr txBox="1"/>
          <p:nvPr/>
        </p:nvSpPr>
        <p:spPr>
          <a:xfrm>
            <a:off x="768096" y="2359152"/>
            <a:ext cx="1655064" cy="27432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3213C"/>
                </a:solidFill>
                <a:latin typeface="Aptos" pitchFamily="34" charset="0"/>
                <a:ea typeface="Aptos" pitchFamily="34" charset="-122"/>
                <a:cs typeface="Aptos" pitchFamily="34" charset="-120"/>
              </a:rPr>
              <a:t>1  Student UI</a:t>
            </a:r>
            <a:endParaRPr lang="en-US" sz="1300" dirty="0"/>
          </a:p>
        </p:txBody>
      </p:sp>
      <p:sp>
        <p:nvSpPr>
          <p:cNvPr id="7" name="Text 5"/>
          <p:cNvSpPr txBox="1"/>
          <p:nvPr/>
        </p:nvSpPr>
        <p:spPr>
          <a:xfrm>
            <a:off x="768096" y="2761488"/>
            <a:ext cx="1655064" cy="594360"/>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Streamlit chat</a:t>
            </a:r>
            <a:endParaRPr lang="en-US" sz="1050" dirty="0"/>
          </a:p>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Prompt + response</a:t>
            </a:r>
            <a:endParaRPr lang="en-US" sz="1050" dirty="0"/>
          </a:p>
        </p:txBody>
      </p:sp>
      <p:sp>
        <p:nvSpPr>
          <p:cNvPr id="8" name="Shape 6"/>
          <p:cNvSpPr/>
          <p:nvPr/>
        </p:nvSpPr>
        <p:spPr>
          <a:xfrm>
            <a:off x="2953512" y="2130552"/>
            <a:ext cx="1874520" cy="1508760"/>
          </a:xfrm>
          <a:prstGeom prst="roundRect">
            <a:avLst>
              <a:gd name="adj" fmla="val 8485"/>
            </a:avLst>
          </a:prstGeom>
          <a:solidFill>
            <a:srgbClr val="EAF0F6"/>
          </a:solidFill>
          <a:ln w="13970">
            <a:solidFill>
              <a:srgbClr val="1D3557"/>
            </a:solidFill>
            <a:prstDash val="solid"/>
          </a:ln>
        </p:spPr>
      </p:sp>
      <p:sp>
        <p:nvSpPr>
          <p:cNvPr id="9" name="Text 7"/>
          <p:cNvSpPr txBox="1"/>
          <p:nvPr/>
        </p:nvSpPr>
        <p:spPr>
          <a:xfrm>
            <a:off x="3063240" y="2359152"/>
            <a:ext cx="1655064" cy="27432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3213C"/>
                </a:solidFill>
                <a:latin typeface="Aptos" pitchFamily="34" charset="0"/>
                <a:ea typeface="Aptos" pitchFamily="34" charset="-122"/>
                <a:cs typeface="Aptos" pitchFamily="34" charset="-120"/>
              </a:rPr>
              <a:t>2  Python client</a:t>
            </a:r>
            <a:endParaRPr lang="en-US" sz="1300" dirty="0"/>
          </a:p>
        </p:txBody>
      </p:sp>
      <p:sp>
        <p:nvSpPr>
          <p:cNvPr id="10" name="Text 8"/>
          <p:cNvSpPr txBox="1"/>
          <p:nvPr/>
        </p:nvSpPr>
        <p:spPr>
          <a:xfrm>
            <a:off x="3063240" y="2761488"/>
            <a:ext cx="1655064" cy="594360"/>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Entra ID auth</a:t>
            </a:r>
            <a:endParaRPr lang="en-US" sz="1050" dirty="0"/>
          </a:p>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Foundry SDK</a:t>
            </a:r>
            <a:endParaRPr lang="en-US" sz="1050" dirty="0"/>
          </a:p>
        </p:txBody>
      </p:sp>
      <p:sp>
        <p:nvSpPr>
          <p:cNvPr id="11" name="Shape 9"/>
          <p:cNvSpPr/>
          <p:nvPr/>
        </p:nvSpPr>
        <p:spPr>
          <a:xfrm>
            <a:off x="5248656" y="2130552"/>
            <a:ext cx="1874520" cy="1508760"/>
          </a:xfrm>
          <a:prstGeom prst="roundRect">
            <a:avLst>
              <a:gd name="adj" fmla="val 8485"/>
            </a:avLst>
          </a:prstGeom>
          <a:solidFill>
            <a:srgbClr val="E7F4F4"/>
          </a:solidFill>
          <a:ln w="13970">
            <a:solidFill>
              <a:srgbClr val="168C91"/>
            </a:solidFill>
            <a:prstDash val="solid"/>
          </a:ln>
        </p:spPr>
      </p:sp>
      <p:sp>
        <p:nvSpPr>
          <p:cNvPr id="12" name="Text 10"/>
          <p:cNvSpPr txBox="1"/>
          <p:nvPr/>
        </p:nvSpPr>
        <p:spPr>
          <a:xfrm>
            <a:off x="5358384" y="2359152"/>
            <a:ext cx="1655064" cy="27432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3213C"/>
                </a:solidFill>
                <a:latin typeface="Aptos" pitchFamily="34" charset="0"/>
                <a:ea typeface="Aptos" pitchFamily="34" charset="-122"/>
                <a:cs typeface="Aptos" pitchFamily="34" charset="-120"/>
              </a:rPr>
              <a:t>3  Foundry agent</a:t>
            </a:r>
            <a:endParaRPr lang="en-US" sz="1300" dirty="0"/>
          </a:p>
        </p:txBody>
      </p:sp>
      <p:sp>
        <p:nvSpPr>
          <p:cNvPr id="13" name="Text 11"/>
          <p:cNvSpPr txBox="1"/>
          <p:nvPr/>
        </p:nvSpPr>
        <p:spPr>
          <a:xfrm>
            <a:off x="5358384" y="2761488"/>
            <a:ext cx="1655064" cy="594360"/>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Instructions</a:t>
            </a:r>
            <a:endParaRPr lang="en-US" sz="1050" dirty="0"/>
          </a:p>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Model + routing</a:t>
            </a:r>
            <a:endParaRPr lang="en-US" sz="1050" dirty="0"/>
          </a:p>
        </p:txBody>
      </p:sp>
      <p:sp>
        <p:nvSpPr>
          <p:cNvPr id="14" name="Shape 12"/>
          <p:cNvSpPr/>
          <p:nvPr/>
        </p:nvSpPr>
        <p:spPr>
          <a:xfrm>
            <a:off x="7543800" y="2130552"/>
            <a:ext cx="1874520" cy="1508760"/>
          </a:xfrm>
          <a:prstGeom prst="roundRect">
            <a:avLst>
              <a:gd name="adj" fmla="val 8485"/>
            </a:avLst>
          </a:prstGeom>
          <a:solidFill>
            <a:srgbClr val="FBEEDD"/>
          </a:solidFill>
          <a:ln w="13970">
            <a:solidFill>
              <a:srgbClr val="F4A261"/>
            </a:solidFill>
            <a:prstDash val="solid"/>
          </a:ln>
        </p:spPr>
      </p:sp>
      <p:sp>
        <p:nvSpPr>
          <p:cNvPr id="15" name="Text 13"/>
          <p:cNvSpPr txBox="1"/>
          <p:nvPr/>
        </p:nvSpPr>
        <p:spPr>
          <a:xfrm>
            <a:off x="7653528" y="2359152"/>
            <a:ext cx="1655064" cy="27432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3213C"/>
                </a:solidFill>
                <a:latin typeface="Aptos" pitchFamily="34" charset="0"/>
                <a:ea typeface="Aptos" pitchFamily="34" charset="-122"/>
                <a:cs typeface="Aptos" pitchFamily="34" charset="-120"/>
              </a:rPr>
              <a:t>4  Tools</a:t>
            </a:r>
            <a:endParaRPr lang="en-US" sz="1300" dirty="0"/>
          </a:p>
        </p:txBody>
      </p:sp>
      <p:sp>
        <p:nvSpPr>
          <p:cNvPr id="16" name="Text 14"/>
          <p:cNvSpPr txBox="1"/>
          <p:nvPr/>
        </p:nvSpPr>
        <p:spPr>
          <a:xfrm>
            <a:off x="7653528" y="2761488"/>
            <a:ext cx="1655064" cy="594360"/>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File Search</a:t>
            </a:r>
            <a:endParaRPr lang="en-US" sz="1050" dirty="0"/>
          </a:p>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Code Interpreter</a:t>
            </a:r>
            <a:endParaRPr lang="en-US" sz="1050" dirty="0"/>
          </a:p>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MCP (optional)</a:t>
            </a:r>
            <a:endParaRPr lang="en-US" sz="1050" dirty="0"/>
          </a:p>
        </p:txBody>
      </p:sp>
      <p:sp>
        <p:nvSpPr>
          <p:cNvPr id="17" name="Shape 15"/>
          <p:cNvSpPr/>
          <p:nvPr/>
        </p:nvSpPr>
        <p:spPr>
          <a:xfrm>
            <a:off x="9838944" y="2130552"/>
            <a:ext cx="1700784" cy="1508760"/>
          </a:xfrm>
          <a:prstGeom prst="roundRect">
            <a:avLst>
              <a:gd name="adj" fmla="val 8485"/>
            </a:avLst>
          </a:prstGeom>
          <a:solidFill>
            <a:srgbClr val="E7F4EC"/>
          </a:solidFill>
          <a:ln w="13970">
            <a:solidFill>
              <a:srgbClr val="287A63"/>
            </a:solidFill>
            <a:prstDash val="solid"/>
          </a:ln>
        </p:spPr>
      </p:sp>
      <p:sp>
        <p:nvSpPr>
          <p:cNvPr id="18" name="Text 16"/>
          <p:cNvSpPr txBox="1"/>
          <p:nvPr/>
        </p:nvSpPr>
        <p:spPr>
          <a:xfrm>
            <a:off x="9948672" y="2359152"/>
            <a:ext cx="1481328" cy="27432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3213C"/>
                </a:solidFill>
                <a:latin typeface="Aptos" pitchFamily="34" charset="0"/>
                <a:ea typeface="Aptos" pitchFamily="34" charset="-122"/>
                <a:cs typeface="Aptos" pitchFamily="34" charset="-120"/>
              </a:rPr>
              <a:t>5  Answer</a:t>
            </a:r>
            <a:endParaRPr lang="en-US" sz="1300" dirty="0"/>
          </a:p>
        </p:txBody>
      </p:sp>
      <p:sp>
        <p:nvSpPr>
          <p:cNvPr id="19" name="Text 17"/>
          <p:cNvSpPr txBox="1"/>
          <p:nvPr/>
        </p:nvSpPr>
        <p:spPr>
          <a:xfrm>
            <a:off x="9948672" y="2761488"/>
            <a:ext cx="1481328" cy="594360"/>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Evidence-led</a:t>
            </a:r>
            <a:endParaRPr lang="en-US" sz="1050" dirty="0"/>
          </a:p>
          <a:p>
            <a:pPr algn="ctr" indent="0" marL="0">
              <a:lnSpc>
                <a:spcPct val="100000"/>
              </a:lnSpc>
              <a:buNone/>
            </a:pPr>
            <a:r>
              <a:rPr lang="en-US" sz="1050" dirty="0">
                <a:solidFill>
                  <a:srgbClr val="53657C"/>
                </a:solidFill>
                <a:latin typeface="Aptos" pitchFamily="34" charset="0"/>
                <a:ea typeface="Aptos" pitchFamily="34" charset="-122"/>
                <a:cs typeface="Aptos" pitchFamily="34" charset="-120"/>
              </a:rPr>
              <a:t>next actions</a:t>
            </a:r>
            <a:endParaRPr lang="en-US" sz="1050" dirty="0"/>
          </a:p>
        </p:txBody>
      </p:sp>
      <p:sp>
        <p:nvSpPr>
          <p:cNvPr id="20" name="Shape 18"/>
          <p:cNvSpPr/>
          <p:nvPr/>
        </p:nvSpPr>
        <p:spPr>
          <a:xfrm>
            <a:off x="2569464" y="2880360"/>
            <a:ext cx="338328" cy="0"/>
          </a:xfrm>
          <a:prstGeom prst="line">
            <a:avLst/>
          </a:prstGeom>
          <a:noFill/>
          <a:ln w="20320">
            <a:solidFill>
              <a:srgbClr val="168C91"/>
            </a:solidFill>
            <a:prstDash val="solid"/>
            <a:headEnd type="none"/>
            <a:tailEnd type="triangle"/>
          </a:ln>
        </p:spPr>
      </p:sp>
      <p:sp>
        <p:nvSpPr>
          <p:cNvPr id="21" name="Shape 19"/>
          <p:cNvSpPr/>
          <p:nvPr/>
        </p:nvSpPr>
        <p:spPr>
          <a:xfrm>
            <a:off x="4864608" y="2880360"/>
            <a:ext cx="338328" cy="0"/>
          </a:xfrm>
          <a:prstGeom prst="line">
            <a:avLst/>
          </a:prstGeom>
          <a:noFill/>
          <a:ln w="20320">
            <a:solidFill>
              <a:srgbClr val="168C91"/>
            </a:solidFill>
            <a:prstDash val="solid"/>
            <a:headEnd type="none"/>
            <a:tailEnd type="triangle"/>
          </a:ln>
        </p:spPr>
      </p:sp>
      <p:sp>
        <p:nvSpPr>
          <p:cNvPr id="22" name="Shape 20"/>
          <p:cNvSpPr/>
          <p:nvPr/>
        </p:nvSpPr>
        <p:spPr>
          <a:xfrm>
            <a:off x="7159752" y="2880360"/>
            <a:ext cx="338328" cy="0"/>
          </a:xfrm>
          <a:prstGeom prst="line">
            <a:avLst/>
          </a:prstGeom>
          <a:noFill/>
          <a:ln w="20320">
            <a:solidFill>
              <a:srgbClr val="168C91"/>
            </a:solidFill>
            <a:prstDash val="solid"/>
            <a:headEnd type="none"/>
            <a:tailEnd type="triangle"/>
          </a:ln>
        </p:spPr>
      </p:sp>
      <p:sp>
        <p:nvSpPr>
          <p:cNvPr id="23" name="Shape 21"/>
          <p:cNvSpPr/>
          <p:nvPr/>
        </p:nvSpPr>
        <p:spPr>
          <a:xfrm>
            <a:off x="9454896" y="2880360"/>
            <a:ext cx="338328" cy="0"/>
          </a:xfrm>
          <a:prstGeom prst="line">
            <a:avLst/>
          </a:prstGeom>
          <a:noFill/>
          <a:ln w="20320">
            <a:solidFill>
              <a:srgbClr val="168C91"/>
            </a:solidFill>
            <a:prstDash val="solid"/>
            <a:headEnd type="none"/>
            <a:tailEnd type="triangle"/>
          </a:ln>
        </p:spPr>
      </p:sp>
      <p:sp>
        <p:nvSpPr>
          <p:cNvPr id="24" name="Shape 22"/>
          <p:cNvSpPr/>
          <p:nvPr/>
        </p:nvSpPr>
        <p:spPr>
          <a:xfrm>
            <a:off x="1051560" y="4343400"/>
            <a:ext cx="10058400" cy="731520"/>
          </a:xfrm>
          <a:prstGeom prst="roundRect">
            <a:avLst>
              <a:gd name="adj" fmla="val 15000"/>
            </a:avLst>
          </a:prstGeom>
          <a:solidFill>
            <a:srgbClr val="FFFFFF"/>
          </a:solidFill>
          <a:ln w="12700">
            <a:solidFill>
              <a:srgbClr val="D8E2EE"/>
            </a:solidFill>
            <a:prstDash val="solid"/>
          </a:ln>
        </p:spPr>
      </p:sp>
      <p:sp>
        <p:nvSpPr>
          <p:cNvPr id="25" name="Text 23"/>
          <p:cNvSpPr txBox="1"/>
          <p:nvPr/>
        </p:nvSpPr>
        <p:spPr>
          <a:xfrm>
            <a:off x="1280160" y="4553712"/>
            <a:ext cx="1874520"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13C"/>
                </a:solidFill>
                <a:latin typeface="Aptos" pitchFamily="34" charset="0"/>
                <a:ea typeface="Aptos" pitchFamily="34" charset="-122"/>
                <a:cs typeface="Aptos" pitchFamily="34" charset="-120"/>
              </a:rPr>
              <a:t>Cross-cutting controls</a:t>
            </a:r>
            <a:endParaRPr lang="en-US" sz="1200" dirty="0"/>
          </a:p>
        </p:txBody>
      </p:sp>
      <p:sp>
        <p:nvSpPr>
          <p:cNvPr id="26" name="Text 24"/>
          <p:cNvSpPr txBox="1"/>
          <p:nvPr/>
        </p:nvSpPr>
        <p:spPr>
          <a:xfrm>
            <a:off x="3182112" y="4535424"/>
            <a:ext cx="7406640" cy="25603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Content filters  •  Human review  •  Trace inspection  •  Test set  •  Cost awareness</a:t>
            </a:r>
            <a:endParaRPr lang="en-US" sz="1200" dirty="0"/>
          </a:p>
        </p:txBody>
      </p:sp>
      <p:sp>
        <p:nvSpPr>
          <p:cNvPr id="27" name="Text 25"/>
          <p:cNvSpPr txBox="1"/>
          <p:nvPr/>
        </p:nvSpPr>
        <p:spPr>
          <a:xfrm>
            <a:off x="804672" y="5532120"/>
            <a:ext cx="10424160" cy="320040"/>
          </a:xfrm>
          <a:prstGeom prst="rect">
            <a:avLst/>
          </a:prstGeom>
          <a:noFill/>
          <a:ln/>
        </p:spPr>
        <p:txBody>
          <a:bodyPr wrap="square" lIns="0" tIns="0" rIns="0" bIns="0" rtlCol="0" anchor="ctr">
            <a:normAutofit/>
          </a:bodyPr>
          <a:lstStyle/>
          <a:p>
            <a:pPr algn="l" indent="0" marL="0">
              <a:lnSpc>
                <a:spcPct val="100000"/>
              </a:lnSpc>
              <a:buNone/>
            </a:pPr>
            <a:r>
              <a:rPr lang="en-US" sz="1100" i="1" dirty="0">
                <a:solidFill>
                  <a:srgbClr val="53657C"/>
                </a:solidFill>
                <a:latin typeface="Aptos" pitchFamily="34" charset="0"/>
                <a:ea typeface="Aptos" pitchFamily="34" charset="-122"/>
                <a:cs typeface="Aptos" pitchFamily="34" charset="-120"/>
              </a:rPr>
              <a:t>Identity note: local development uses Azure CLI / Entra ID; cloud hosting needs its own approved identity setup.</a:t>
            </a:r>
            <a:endParaRPr lang="en-US" sz="11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04 / AGENT WORKFLOW</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A tool should be invoked for a reason</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The agent interprets the task, uses the matching configured tool, and summarizes evidence.</a:t>
            </a:r>
            <a:endParaRPr lang="en-US" sz="1200" dirty="0"/>
          </a:p>
        </p:txBody>
      </p:sp>
      <p:sp>
        <p:nvSpPr>
          <p:cNvPr id="5" name="Shape 3"/>
          <p:cNvSpPr/>
          <p:nvPr/>
        </p:nvSpPr>
        <p:spPr>
          <a:xfrm>
            <a:off x="676656" y="1737360"/>
            <a:ext cx="10835640" cy="786384"/>
          </a:xfrm>
          <a:prstGeom prst="roundRect">
            <a:avLst>
              <a:gd name="adj" fmla="val 13953"/>
            </a:avLst>
          </a:prstGeom>
          <a:solidFill>
            <a:srgbClr val="FFFFFF"/>
          </a:solidFill>
          <a:ln w="10160">
            <a:solidFill>
              <a:srgbClr val="D8E2EE"/>
            </a:solidFill>
            <a:prstDash val="solid"/>
          </a:ln>
        </p:spPr>
      </p:sp>
      <p:sp>
        <p:nvSpPr>
          <p:cNvPr id="6" name="Shape 4"/>
          <p:cNvSpPr/>
          <p:nvPr/>
        </p:nvSpPr>
        <p:spPr>
          <a:xfrm>
            <a:off x="704088" y="1801368"/>
            <a:ext cx="109728" cy="658368"/>
          </a:xfrm>
          <a:prstGeom prst="roundRect">
            <a:avLst>
              <a:gd name="adj" fmla="val 41667"/>
            </a:avLst>
          </a:prstGeom>
          <a:solidFill>
            <a:srgbClr val="168C91"/>
          </a:solidFill>
          <a:ln w="12700">
            <a:solidFill>
              <a:srgbClr val="168C91"/>
            </a:solidFill>
            <a:prstDash val="solid"/>
          </a:ln>
        </p:spPr>
      </p:sp>
      <p:sp>
        <p:nvSpPr>
          <p:cNvPr id="7" name="Text 5"/>
          <p:cNvSpPr txBox="1"/>
          <p:nvPr/>
        </p:nvSpPr>
        <p:spPr>
          <a:xfrm>
            <a:off x="932688" y="1883664"/>
            <a:ext cx="1645920"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13C"/>
                </a:solidFill>
                <a:latin typeface="Aptos" pitchFamily="34" charset="0"/>
                <a:ea typeface="Aptos" pitchFamily="34" charset="-122"/>
                <a:cs typeface="Aptos" pitchFamily="34" charset="-120"/>
              </a:rPr>
              <a:t>Request</a:t>
            </a:r>
            <a:endParaRPr lang="en-US" sz="1200" dirty="0"/>
          </a:p>
        </p:txBody>
      </p:sp>
      <p:sp>
        <p:nvSpPr>
          <p:cNvPr id="8" name="Text 6"/>
          <p:cNvSpPr txBox="1"/>
          <p:nvPr/>
        </p:nvSpPr>
        <p:spPr>
          <a:xfrm>
            <a:off x="2606040" y="1865376"/>
            <a:ext cx="3657600" cy="274320"/>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B2A41"/>
                </a:solidFill>
                <a:latin typeface="Aptos" pitchFamily="34" charset="0"/>
                <a:ea typeface="Aptos" pitchFamily="34" charset="-122"/>
                <a:cs typeface="Aptos" pitchFamily="34" charset="-120"/>
              </a:rPr>
              <a:t>“Create an MVP plan for a student project.”</a:t>
            </a:r>
            <a:endParaRPr lang="en-US" sz="1120" dirty="0"/>
          </a:p>
        </p:txBody>
      </p:sp>
      <p:sp>
        <p:nvSpPr>
          <p:cNvPr id="9" name="Text 7"/>
          <p:cNvSpPr txBox="1"/>
          <p:nvPr/>
        </p:nvSpPr>
        <p:spPr>
          <a:xfrm>
            <a:off x="6263640" y="1847088"/>
            <a:ext cx="4892040" cy="41148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53657C"/>
                </a:solidFill>
                <a:latin typeface="Aptos" pitchFamily="34" charset="0"/>
                <a:ea typeface="Aptos" pitchFamily="34" charset="-122"/>
                <a:cs typeface="Aptos" pitchFamily="34" charset="-120"/>
              </a:rPr>
              <a:t>Clarify goals and constraints; structure the plan.</a:t>
            </a:r>
            <a:endParaRPr lang="en-US" sz="1050" dirty="0"/>
          </a:p>
        </p:txBody>
      </p:sp>
      <p:sp>
        <p:nvSpPr>
          <p:cNvPr id="10" name="Shape 8"/>
          <p:cNvSpPr/>
          <p:nvPr/>
        </p:nvSpPr>
        <p:spPr>
          <a:xfrm>
            <a:off x="676656" y="2651760"/>
            <a:ext cx="10835640" cy="786384"/>
          </a:xfrm>
          <a:prstGeom prst="roundRect">
            <a:avLst>
              <a:gd name="adj" fmla="val 13953"/>
            </a:avLst>
          </a:prstGeom>
          <a:solidFill>
            <a:srgbClr val="FFFFFF"/>
          </a:solidFill>
          <a:ln w="10160">
            <a:solidFill>
              <a:srgbClr val="D8E2EE"/>
            </a:solidFill>
            <a:prstDash val="solid"/>
          </a:ln>
        </p:spPr>
      </p:sp>
      <p:sp>
        <p:nvSpPr>
          <p:cNvPr id="11" name="Shape 9"/>
          <p:cNvSpPr/>
          <p:nvPr/>
        </p:nvSpPr>
        <p:spPr>
          <a:xfrm>
            <a:off x="704088" y="2715768"/>
            <a:ext cx="109728" cy="658368"/>
          </a:xfrm>
          <a:prstGeom prst="roundRect">
            <a:avLst>
              <a:gd name="adj" fmla="val 41667"/>
            </a:avLst>
          </a:prstGeom>
          <a:solidFill>
            <a:srgbClr val="1D3557"/>
          </a:solidFill>
          <a:ln w="12700">
            <a:solidFill>
              <a:srgbClr val="1D3557"/>
            </a:solidFill>
            <a:prstDash val="solid"/>
          </a:ln>
        </p:spPr>
      </p:sp>
      <p:sp>
        <p:nvSpPr>
          <p:cNvPr id="12" name="Text 10"/>
          <p:cNvSpPr txBox="1"/>
          <p:nvPr/>
        </p:nvSpPr>
        <p:spPr>
          <a:xfrm>
            <a:off x="932688" y="2798064"/>
            <a:ext cx="1645920"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13C"/>
                </a:solidFill>
                <a:latin typeface="Aptos" pitchFamily="34" charset="0"/>
                <a:ea typeface="Aptos" pitchFamily="34" charset="-122"/>
                <a:cs typeface="Aptos" pitchFamily="34" charset="-120"/>
              </a:rPr>
              <a:t>Document question</a:t>
            </a:r>
            <a:endParaRPr lang="en-US" sz="1200" dirty="0"/>
          </a:p>
        </p:txBody>
      </p:sp>
      <p:sp>
        <p:nvSpPr>
          <p:cNvPr id="13" name="Text 11"/>
          <p:cNvSpPr txBox="1"/>
          <p:nvPr/>
        </p:nvSpPr>
        <p:spPr>
          <a:xfrm>
            <a:off x="2606040" y="2779776"/>
            <a:ext cx="3657600" cy="274320"/>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B2A41"/>
                </a:solidFill>
                <a:latin typeface="Aptos" pitchFamily="34" charset="0"/>
                <a:ea typeface="Aptos" pitchFamily="34" charset="-122"/>
                <a:cs typeface="Aptos" pitchFamily="34" charset="-120"/>
              </a:rPr>
              <a:t>“What does our project brief specify?”</a:t>
            </a:r>
            <a:endParaRPr lang="en-US" sz="1120" dirty="0"/>
          </a:p>
        </p:txBody>
      </p:sp>
      <p:sp>
        <p:nvSpPr>
          <p:cNvPr id="14" name="Text 12"/>
          <p:cNvSpPr txBox="1"/>
          <p:nvPr/>
        </p:nvSpPr>
        <p:spPr>
          <a:xfrm>
            <a:off x="6263640" y="2761488"/>
            <a:ext cx="4892040" cy="41148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53657C"/>
                </a:solidFill>
                <a:latin typeface="Aptos" pitchFamily="34" charset="0"/>
                <a:ea typeface="Aptos" pitchFamily="34" charset="-122"/>
                <a:cs typeface="Aptos" pitchFamily="34" charset="-120"/>
              </a:rPr>
              <a:t>File Search retrieves the relevant approved text.</a:t>
            </a:r>
            <a:endParaRPr lang="en-US" sz="1050" dirty="0"/>
          </a:p>
        </p:txBody>
      </p:sp>
      <p:sp>
        <p:nvSpPr>
          <p:cNvPr id="15" name="Shape 13"/>
          <p:cNvSpPr/>
          <p:nvPr/>
        </p:nvSpPr>
        <p:spPr>
          <a:xfrm>
            <a:off x="676656" y="3566160"/>
            <a:ext cx="10835640" cy="786384"/>
          </a:xfrm>
          <a:prstGeom prst="roundRect">
            <a:avLst>
              <a:gd name="adj" fmla="val 13953"/>
            </a:avLst>
          </a:prstGeom>
          <a:solidFill>
            <a:srgbClr val="FFFFFF"/>
          </a:solidFill>
          <a:ln w="10160">
            <a:solidFill>
              <a:srgbClr val="D8E2EE"/>
            </a:solidFill>
            <a:prstDash val="solid"/>
          </a:ln>
        </p:spPr>
      </p:sp>
      <p:sp>
        <p:nvSpPr>
          <p:cNvPr id="16" name="Shape 14"/>
          <p:cNvSpPr/>
          <p:nvPr/>
        </p:nvSpPr>
        <p:spPr>
          <a:xfrm>
            <a:off x="704088" y="3630168"/>
            <a:ext cx="109728" cy="658368"/>
          </a:xfrm>
          <a:prstGeom prst="roundRect">
            <a:avLst>
              <a:gd name="adj" fmla="val 41667"/>
            </a:avLst>
          </a:prstGeom>
          <a:solidFill>
            <a:srgbClr val="F4A261"/>
          </a:solidFill>
          <a:ln w="12700">
            <a:solidFill>
              <a:srgbClr val="F4A261"/>
            </a:solidFill>
            <a:prstDash val="solid"/>
          </a:ln>
        </p:spPr>
      </p:sp>
      <p:sp>
        <p:nvSpPr>
          <p:cNvPr id="17" name="Text 15"/>
          <p:cNvSpPr txBox="1"/>
          <p:nvPr/>
        </p:nvSpPr>
        <p:spPr>
          <a:xfrm>
            <a:off x="932688" y="3712464"/>
            <a:ext cx="1645920"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13C"/>
                </a:solidFill>
                <a:latin typeface="Aptos" pitchFamily="34" charset="0"/>
                <a:ea typeface="Aptos" pitchFamily="34" charset="-122"/>
                <a:cs typeface="Aptos" pitchFamily="34" charset="-120"/>
              </a:rPr>
              <a:t>Data question</a:t>
            </a:r>
            <a:endParaRPr lang="en-US" sz="1200" dirty="0"/>
          </a:p>
        </p:txBody>
      </p:sp>
      <p:sp>
        <p:nvSpPr>
          <p:cNvPr id="18" name="Text 16"/>
          <p:cNvSpPr txBox="1"/>
          <p:nvPr/>
        </p:nvSpPr>
        <p:spPr>
          <a:xfrm>
            <a:off x="2606040" y="3694176"/>
            <a:ext cx="3657600" cy="274320"/>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B2A41"/>
                </a:solidFill>
                <a:latin typeface="Aptos" pitchFamily="34" charset="0"/>
                <a:ea typeface="Aptos" pitchFamily="34" charset="-122"/>
                <a:cs typeface="Aptos" pitchFamily="34" charset="-120"/>
              </a:rPr>
              <a:t>“Which work items are high-risk or delayed?”</a:t>
            </a:r>
            <a:endParaRPr lang="en-US" sz="1120" dirty="0"/>
          </a:p>
        </p:txBody>
      </p:sp>
      <p:sp>
        <p:nvSpPr>
          <p:cNvPr id="19" name="Text 17"/>
          <p:cNvSpPr txBox="1"/>
          <p:nvPr/>
        </p:nvSpPr>
        <p:spPr>
          <a:xfrm>
            <a:off x="6263640" y="3675888"/>
            <a:ext cx="4892040" cy="41148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53657C"/>
                </a:solidFill>
                <a:latin typeface="Aptos" pitchFamily="34" charset="0"/>
                <a:ea typeface="Aptos" pitchFamily="34" charset="-122"/>
                <a:cs typeface="Aptos" pitchFamily="34" charset="-120"/>
              </a:rPr>
              <a:t>Code Interpreter calculates values from the CSV.</a:t>
            </a:r>
            <a:endParaRPr lang="en-US" sz="1050" dirty="0"/>
          </a:p>
        </p:txBody>
      </p:sp>
      <p:sp>
        <p:nvSpPr>
          <p:cNvPr id="20" name="Shape 18"/>
          <p:cNvSpPr/>
          <p:nvPr/>
        </p:nvSpPr>
        <p:spPr>
          <a:xfrm>
            <a:off x="676656" y="4480560"/>
            <a:ext cx="10835640" cy="786384"/>
          </a:xfrm>
          <a:prstGeom prst="roundRect">
            <a:avLst>
              <a:gd name="adj" fmla="val 13953"/>
            </a:avLst>
          </a:prstGeom>
          <a:solidFill>
            <a:srgbClr val="FFFFFF"/>
          </a:solidFill>
          <a:ln w="10160">
            <a:solidFill>
              <a:srgbClr val="D8E2EE"/>
            </a:solidFill>
            <a:prstDash val="solid"/>
          </a:ln>
        </p:spPr>
      </p:sp>
      <p:sp>
        <p:nvSpPr>
          <p:cNvPr id="21" name="Shape 19"/>
          <p:cNvSpPr/>
          <p:nvPr/>
        </p:nvSpPr>
        <p:spPr>
          <a:xfrm>
            <a:off x="704088" y="4544568"/>
            <a:ext cx="109728" cy="658368"/>
          </a:xfrm>
          <a:prstGeom prst="roundRect">
            <a:avLst>
              <a:gd name="adj" fmla="val 41667"/>
            </a:avLst>
          </a:prstGeom>
          <a:solidFill>
            <a:srgbClr val="287A63"/>
          </a:solidFill>
          <a:ln w="12700">
            <a:solidFill>
              <a:srgbClr val="287A63"/>
            </a:solidFill>
            <a:prstDash val="solid"/>
          </a:ln>
        </p:spPr>
      </p:sp>
      <p:sp>
        <p:nvSpPr>
          <p:cNvPr id="22" name="Text 20"/>
          <p:cNvSpPr txBox="1"/>
          <p:nvPr/>
        </p:nvSpPr>
        <p:spPr>
          <a:xfrm>
            <a:off x="932688" y="4626864"/>
            <a:ext cx="1645920"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13C"/>
                </a:solidFill>
                <a:latin typeface="Aptos" pitchFamily="34" charset="0"/>
                <a:ea typeface="Aptos" pitchFamily="34" charset="-122"/>
                <a:cs typeface="Aptos" pitchFamily="34" charset="-120"/>
              </a:rPr>
              <a:t>Current technical question</a:t>
            </a:r>
            <a:endParaRPr lang="en-US" sz="1200" dirty="0"/>
          </a:p>
        </p:txBody>
      </p:sp>
      <p:sp>
        <p:nvSpPr>
          <p:cNvPr id="23" name="Text 21"/>
          <p:cNvSpPr txBox="1"/>
          <p:nvPr/>
        </p:nvSpPr>
        <p:spPr>
          <a:xfrm>
            <a:off x="2606040" y="4608576"/>
            <a:ext cx="3657600" cy="274320"/>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B2A41"/>
                </a:solidFill>
                <a:latin typeface="Aptos" pitchFamily="34" charset="0"/>
                <a:ea typeface="Aptos" pitchFamily="34" charset="-122"/>
                <a:cs typeface="Aptos" pitchFamily="34" charset="-120"/>
              </a:rPr>
              <a:t>“What is the current Foundry SDK pattern?”</a:t>
            </a:r>
            <a:endParaRPr lang="en-US" sz="1120" dirty="0"/>
          </a:p>
        </p:txBody>
      </p:sp>
      <p:sp>
        <p:nvSpPr>
          <p:cNvPr id="24" name="Text 22"/>
          <p:cNvSpPr txBox="1"/>
          <p:nvPr/>
        </p:nvSpPr>
        <p:spPr>
          <a:xfrm>
            <a:off x="6263640" y="4590288"/>
            <a:ext cx="4892040" cy="41148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53657C"/>
                </a:solidFill>
                <a:latin typeface="Aptos" pitchFamily="34" charset="0"/>
                <a:ea typeface="Aptos" pitchFamily="34" charset="-122"/>
                <a:cs typeface="Aptos" pitchFamily="34" charset="-120"/>
              </a:rPr>
              <a:t>MCP can consult Microsoft Learn if configured and approved.</a:t>
            </a:r>
            <a:endParaRPr lang="en-US" sz="1050" dirty="0"/>
          </a:p>
        </p:txBody>
      </p:sp>
      <p:sp>
        <p:nvSpPr>
          <p:cNvPr id="25" name="Text 23"/>
          <p:cNvSpPr txBox="1"/>
          <p:nvPr/>
        </p:nvSpPr>
        <p:spPr>
          <a:xfrm>
            <a:off x="822960" y="5669280"/>
            <a:ext cx="10424160" cy="34747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68C91"/>
                </a:solidFill>
                <a:latin typeface="Aptos" pitchFamily="34" charset="0"/>
                <a:ea typeface="Aptos" pitchFamily="34" charset="-122"/>
                <a:cs typeface="Aptos" pitchFamily="34" charset="-120"/>
              </a:rPr>
              <a:t>Target behaviour: answer with evidence, state assumptions, disclose uncertainty, and recommend the next action.</a:t>
            </a:r>
            <a:endParaRPr lang="en-US" sz="13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05 / DATA ENGINEERING</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From a CSV to an actionable project summary</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The included dataset is synthetic; replace it only with data approved for your project.</a:t>
            </a:r>
            <a:endParaRPr lang="en-US" sz="1200" dirty="0"/>
          </a:p>
        </p:txBody>
      </p:sp>
      <p:sp>
        <p:nvSpPr>
          <p:cNvPr id="5" name="Shape 3"/>
          <p:cNvSpPr/>
          <p:nvPr/>
        </p:nvSpPr>
        <p:spPr>
          <a:xfrm>
            <a:off x="685800" y="1828800"/>
            <a:ext cx="2514600" cy="1051560"/>
          </a:xfrm>
          <a:prstGeom prst="roundRect">
            <a:avLst>
              <a:gd name="adj" fmla="val 10435"/>
            </a:avLst>
          </a:prstGeom>
          <a:solidFill>
            <a:srgbClr val="E7F4F4"/>
          </a:solidFill>
          <a:ln w="11430">
            <a:solidFill>
              <a:srgbClr val="168C91"/>
            </a:solidFill>
            <a:prstDash val="solid"/>
          </a:ln>
        </p:spPr>
      </p:sp>
      <p:sp>
        <p:nvSpPr>
          <p:cNvPr id="6" name="Text 4"/>
          <p:cNvSpPr txBox="1"/>
          <p:nvPr/>
        </p:nvSpPr>
        <p:spPr>
          <a:xfrm>
            <a:off x="822960" y="2002536"/>
            <a:ext cx="2240280" cy="201168"/>
          </a:xfrm>
          <a:prstGeom prst="rect">
            <a:avLst/>
          </a:prstGeom>
          <a:noFill/>
          <a:ln/>
        </p:spPr>
        <p:txBody>
          <a:bodyPr wrap="square" lIns="0" tIns="0" rIns="0" bIns="0" rtlCol="0" anchor="ctr">
            <a:normAutofit/>
          </a:bodyPr>
          <a:lstStyle/>
          <a:p>
            <a:pPr algn="ctr" indent="0" marL="0">
              <a:lnSpc>
                <a:spcPct val="100000"/>
              </a:lnSpc>
              <a:buNone/>
            </a:pPr>
            <a:r>
              <a:rPr lang="en-US" sz="1000" b="1" spc="110" kern="0" dirty="0">
                <a:solidFill>
                  <a:srgbClr val="168C91"/>
                </a:solidFill>
                <a:latin typeface="Aptos" pitchFamily="34" charset="0"/>
                <a:ea typeface="Aptos" pitchFamily="34" charset="-122"/>
                <a:cs typeface="Aptos" pitchFamily="34" charset="-120"/>
              </a:rPr>
              <a:t>INGEST</a:t>
            </a:r>
            <a:endParaRPr lang="en-US" sz="1000" dirty="0"/>
          </a:p>
        </p:txBody>
      </p:sp>
      <p:sp>
        <p:nvSpPr>
          <p:cNvPr id="7" name="Text 5"/>
          <p:cNvSpPr txBox="1"/>
          <p:nvPr/>
        </p:nvSpPr>
        <p:spPr>
          <a:xfrm>
            <a:off x="850392" y="2304288"/>
            <a:ext cx="2194560" cy="329184"/>
          </a:xfrm>
          <a:prstGeom prst="rect">
            <a:avLst/>
          </a:prstGeom>
          <a:noFill/>
          <a:ln/>
        </p:spPr>
        <p:txBody>
          <a:bodyPr wrap="square" lIns="0" tIns="0" rIns="0" bIns="0" rtlCol="0" anchor="ctr">
            <a:normAutofit/>
          </a:bodyPr>
          <a:lstStyle/>
          <a:p>
            <a:pPr algn="ctr" indent="0" marL="0">
              <a:lnSpc>
                <a:spcPct val="100000"/>
              </a:lnSpc>
              <a:buNone/>
            </a:pPr>
            <a:r>
              <a:rPr lang="en-US" sz="1140" b="1" dirty="0">
                <a:solidFill>
                  <a:srgbClr val="1B2A41"/>
                </a:solidFill>
                <a:latin typeface="Aptos" pitchFamily="34" charset="0"/>
                <a:ea typeface="Aptos" pitchFamily="34" charset="-122"/>
                <a:cs typeface="Aptos" pitchFamily="34" charset="-120"/>
              </a:rPr>
              <a:t>Read project_metrics.csv</a:t>
            </a:r>
            <a:endParaRPr lang="en-US" sz="1140" dirty="0"/>
          </a:p>
        </p:txBody>
      </p:sp>
      <p:sp>
        <p:nvSpPr>
          <p:cNvPr id="8" name="Shape 6"/>
          <p:cNvSpPr/>
          <p:nvPr/>
        </p:nvSpPr>
        <p:spPr>
          <a:xfrm>
            <a:off x="3227832" y="2359152"/>
            <a:ext cx="292608" cy="0"/>
          </a:xfrm>
          <a:prstGeom prst="line">
            <a:avLst/>
          </a:prstGeom>
          <a:noFill/>
          <a:ln w="21590">
            <a:solidFill>
              <a:srgbClr val="168C91"/>
            </a:solidFill>
            <a:prstDash val="solid"/>
            <a:tailEnd type="triangle"/>
          </a:ln>
        </p:spPr>
      </p:sp>
      <p:sp>
        <p:nvSpPr>
          <p:cNvPr id="9" name="Shape 7"/>
          <p:cNvSpPr/>
          <p:nvPr/>
        </p:nvSpPr>
        <p:spPr>
          <a:xfrm>
            <a:off x="3566160" y="1828800"/>
            <a:ext cx="2514600" cy="1051560"/>
          </a:xfrm>
          <a:prstGeom prst="roundRect">
            <a:avLst>
              <a:gd name="adj" fmla="val 10435"/>
            </a:avLst>
          </a:prstGeom>
          <a:solidFill>
            <a:srgbClr val="EAF0F6"/>
          </a:solidFill>
          <a:ln w="11430">
            <a:solidFill>
              <a:srgbClr val="1D3557"/>
            </a:solidFill>
            <a:prstDash val="solid"/>
          </a:ln>
        </p:spPr>
      </p:sp>
      <p:sp>
        <p:nvSpPr>
          <p:cNvPr id="10" name="Text 8"/>
          <p:cNvSpPr txBox="1"/>
          <p:nvPr/>
        </p:nvSpPr>
        <p:spPr>
          <a:xfrm>
            <a:off x="3703320" y="2002536"/>
            <a:ext cx="2240280" cy="201168"/>
          </a:xfrm>
          <a:prstGeom prst="rect">
            <a:avLst/>
          </a:prstGeom>
          <a:noFill/>
          <a:ln/>
        </p:spPr>
        <p:txBody>
          <a:bodyPr wrap="square" lIns="0" tIns="0" rIns="0" bIns="0" rtlCol="0" anchor="ctr">
            <a:normAutofit/>
          </a:bodyPr>
          <a:lstStyle/>
          <a:p>
            <a:pPr algn="ctr" indent="0" marL="0">
              <a:lnSpc>
                <a:spcPct val="100000"/>
              </a:lnSpc>
              <a:buNone/>
            </a:pPr>
            <a:r>
              <a:rPr lang="en-US" sz="1000" b="1" spc="110" kern="0" dirty="0">
                <a:solidFill>
                  <a:srgbClr val="1D3557"/>
                </a:solidFill>
                <a:latin typeface="Aptos" pitchFamily="34" charset="0"/>
                <a:ea typeface="Aptos" pitchFamily="34" charset="-122"/>
                <a:cs typeface="Aptos" pitchFamily="34" charset="-120"/>
              </a:rPr>
              <a:t>VALIDATE</a:t>
            </a:r>
            <a:endParaRPr lang="en-US" sz="1000" dirty="0"/>
          </a:p>
        </p:txBody>
      </p:sp>
      <p:sp>
        <p:nvSpPr>
          <p:cNvPr id="11" name="Text 9"/>
          <p:cNvSpPr txBox="1"/>
          <p:nvPr/>
        </p:nvSpPr>
        <p:spPr>
          <a:xfrm>
            <a:off x="3730752" y="2304288"/>
            <a:ext cx="2194560" cy="329184"/>
          </a:xfrm>
          <a:prstGeom prst="rect">
            <a:avLst/>
          </a:prstGeom>
          <a:noFill/>
          <a:ln/>
        </p:spPr>
        <p:txBody>
          <a:bodyPr wrap="square" lIns="0" tIns="0" rIns="0" bIns="0" rtlCol="0" anchor="ctr">
            <a:normAutofit/>
          </a:bodyPr>
          <a:lstStyle/>
          <a:p>
            <a:pPr algn="ctr" indent="0" marL="0">
              <a:lnSpc>
                <a:spcPct val="100000"/>
              </a:lnSpc>
              <a:buNone/>
            </a:pPr>
            <a:r>
              <a:rPr lang="en-US" sz="1140" b="1" dirty="0">
                <a:solidFill>
                  <a:srgbClr val="1B2A41"/>
                </a:solidFill>
                <a:latin typeface="Aptos" pitchFamily="34" charset="0"/>
                <a:ea typeface="Aptos" pitchFamily="34" charset="-122"/>
                <a:cs typeface="Aptos" pitchFamily="34" charset="-120"/>
              </a:rPr>
              <a:t>Check columns and ranges</a:t>
            </a:r>
            <a:endParaRPr lang="en-US" sz="1140" dirty="0"/>
          </a:p>
        </p:txBody>
      </p:sp>
      <p:sp>
        <p:nvSpPr>
          <p:cNvPr id="12" name="Shape 10"/>
          <p:cNvSpPr/>
          <p:nvPr/>
        </p:nvSpPr>
        <p:spPr>
          <a:xfrm>
            <a:off x="6108192" y="2359152"/>
            <a:ext cx="292608" cy="0"/>
          </a:xfrm>
          <a:prstGeom prst="line">
            <a:avLst/>
          </a:prstGeom>
          <a:noFill/>
          <a:ln w="21590">
            <a:solidFill>
              <a:srgbClr val="168C91"/>
            </a:solidFill>
            <a:prstDash val="solid"/>
            <a:tailEnd type="triangle"/>
          </a:ln>
        </p:spPr>
      </p:sp>
      <p:sp>
        <p:nvSpPr>
          <p:cNvPr id="13" name="Shape 11"/>
          <p:cNvSpPr/>
          <p:nvPr/>
        </p:nvSpPr>
        <p:spPr>
          <a:xfrm>
            <a:off x="6446520" y="1828800"/>
            <a:ext cx="2514600" cy="1051560"/>
          </a:xfrm>
          <a:prstGeom prst="roundRect">
            <a:avLst>
              <a:gd name="adj" fmla="val 10435"/>
            </a:avLst>
          </a:prstGeom>
          <a:solidFill>
            <a:srgbClr val="E7F4F4"/>
          </a:solidFill>
          <a:ln w="11430">
            <a:solidFill>
              <a:srgbClr val="168C91"/>
            </a:solidFill>
            <a:prstDash val="solid"/>
          </a:ln>
        </p:spPr>
      </p:sp>
      <p:sp>
        <p:nvSpPr>
          <p:cNvPr id="14" name="Text 12"/>
          <p:cNvSpPr txBox="1"/>
          <p:nvPr/>
        </p:nvSpPr>
        <p:spPr>
          <a:xfrm>
            <a:off x="6583680" y="2002536"/>
            <a:ext cx="2240280" cy="201168"/>
          </a:xfrm>
          <a:prstGeom prst="rect">
            <a:avLst/>
          </a:prstGeom>
          <a:noFill/>
          <a:ln/>
        </p:spPr>
        <p:txBody>
          <a:bodyPr wrap="square" lIns="0" tIns="0" rIns="0" bIns="0" rtlCol="0" anchor="ctr">
            <a:normAutofit/>
          </a:bodyPr>
          <a:lstStyle/>
          <a:p>
            <a:pPr algn="ctr" indent="0" marL="0">
              <a:lnSpc>
                <a:spcPct val="100000"/>
              </a:lnSpc>
              <a:buNone/>
            </a:pPr>
            <a:r>
              <a:rPr lang="en-US" sz="1000" b="1" spc="110" kern="0" dirty="0">
                <a:solidFill>
                  <a:srgbClr val="168C91"/>
                </a:solidFill>
                <a:latin typeface="Aptos" pitchFamily="34" charset="0"/>
                <a:ea typeface="Aptos" pitchFamily="34" charset="-122"/>
                <a:cs typeface="Aptos" pitchFamily="34" charset="-120"/>
              </a:rPr>
              <a:t>ANALYZE</a:t>
            </a:r>
            <a:endParaRPr lang="en-US" sz="1000" dirty="0"/>
          </a:p>
        </p:txBody>
      </p:sp>
      <p:sp>
        <p:nvSpPr>
          <p:cNvPr id="15" name="Text 13"/>
          <p:cNvSpPr txBox="1"/>
          <p:nvPr/>
        </p:nvSpPr>
        <p:spPr>
          <a:xfrm>
            <a:off x="6611112" y="2304288"/>
            <a:ext cx="2194560" cy="329184"/>
          </a:xfrm>
          <a:prstGeom prst="rect">
            <a:avLst/>
          </a:prstGeom>
          <a:noFill/>
          <a:ln/>
        </p:spPr>
        <p:txBody>
          <a:bodyPr wrap="square" lIns="0" tIns="0" rIns="0" bIns="0" rtlCol="0" anchor="ctr">
            <a:normAutofit/>
          </a:bodyPr>
          <a:lstStyle/>
          <a:p>
            <a:pPr algn="ctr" indent="0" marL="0">
              <a:lnSpc>
                <a:spcPct val="100000"/>
              </a:lnSpc>
              <a:buNone/>
            </a:pPr>
            <a:r>
              <a:rPr lang="en-US" sz="1140" b="1" dirty="0">
                <a:solidFill>
                  <a:srgbClr val="1B2A41"/>
                </a:solidFill>
                <a:latin typeface="Aptos" pitchFamily="34" charset="0"/>
                <a:ea typeface="Aptos" pitchFamily="34" charset="-122"/>
                <a:cs typeface="Aptos" pitchFamily="34" charset="-120"/>
              </a:rPr>
              <a:t>Completion, delays, risk</a:t>
            </a:r>
            <a:endParaRPr lang="en-US" sz="1140" dirty="0"/>
          </a:p>
        </p:txBody>
      </p:sp>
      <p:sp>
        <p:nvSpPr>
          <p:cNvPr id="16" name="Shape 14"/>
          <p:cNvSpPr/>
          <p:nvPr/>
        </p:nvSpPr>
        <p:spPr>
          <a:xfrm>
            <a:off x="8988552" y="2359152"/>
            <a:ext cx="292608" cy="0"/>
          </a:xfrm>
          <a:prstGeom prst="line">
            <a:avLst/>
          </a:prstGeom>
          <a:noFill/>
          <a:ln w="21590">
            <a:solidFill>
              <a:srgbClr val="168C91"/>
            </a:solidFill>
            <a:prstDash val="solid"/>
            <a:tailEnd type="triangle"/>
          </a:ln>
        </p:spPr>
      </p:sp>
      <p:sp>
        <p:nvSpPr>
          <p:cNvPr id="17" name="Shape 15"/>
          <p:cNvSpPr/>
          <p:nvPr/>
        </p:nvSpPr>
        <p:spPr>
          <a:xfrm>
            <a:off x="9326880" y="1828800"/>
            <a:ext cx="2514600" cy="1051560"/>
          </a:xfrm>
          <a:prstGeom prst="roundRect">
            <a:avLst>
              <a:gd name="adj" fmla="val 10435"/>
            </a:avLst>
          </a:prstGeom>
          <a:solidFill>
            <a:srgbClr val="EAF0F6"/>
          </a:solidFill>
          <a:ln w="11430">
            <a:solidFill>
              <a:srgbClr val="1D3557"/>
            </a:solidFill>
            <a:prstDash val="solid"/>
          </a:ln>
        </p:spPr>
      </p:sp>
      <p:sp>
        <p:nvSpPr>
          <p:cNvPr id="18" name="Text 16"/>
          <p:cNvSpPr txBox="1"/>
          <p:nvPr/>
        </p:nvSpPr>
        <p:spPr>
          <a:xfrm>
            <a:off x="9464040" y="2002536"/>
            <a:ext cx="2240280" cy="201168"/>
          </a:xfrm>
          <a:prstGeom prst="rect">
            <a:avLst/>
          </a:prstGeom>
          <a:noFill/>
          <a:ln/>
        </p:spPr>
        <p:txBody>
          <a:bodyPr wrap="square" lIns="0" tIns="0" rIns="0" bIns="0" rtlCol="0" anchor="ctr">
            <a:normAutofit/>
          </a:bodyPr>
          <a:lstStyle/>
          <a:p>
            <a:pPr algn="ctr" indent="0" marL="0">
              <a:lnSpc>
                <a:spcPct val="100000"/>
              </a:lnSpc>
              <a:buNone/>
            </a:pPr>
            <a:r>
              <a:rPr lang="en-US" sz="1000" b="1" spc="110" kern="0" dirty="0">
                <a:solidFill>
                  <a:srgbClr val="1D3557"/>
                </a:solidFill>
                <a:latin typeface="Aptos" pitchFamily="34" charset="0"/>
                <a:ea typeface="Aptos" pitchFamily="34" charset="-122"/>
                <a:cs typeface="Aptos" pitchFamily="34" charset="-120"/>
              </a:rPr>
              <a:t>EXPLAIN</a:t>
            </a:r>
            <a:endParaRPr lang="en-US" sz="1000" dirty="0"/>
          </a:p>
        </p:txBody>
      </p:sp>
      <p:sp>
        <p:nvSpPr>
          <p:cNvPr id="19" name="Text 17"/>
          <p:cNvSpPr txBox="1"/>
          <p:nvPr/>
        </p:nvSpPr>
        <p:spPr>
          <a:xfrm>
            <a:off x="9491472" y="2304288"/>
            <a:ext cx="2194560" cy="329184"/>
          </a:xfrm>
          <a:prstGeom prst="rect">
            <a:avLst/>
          </a:prstGeom>
          <a:noFill/>
          <a:ln/>
        </p:spPr>
        <p:txBody>
          <a:bodyPr wrap="square" lIns="0" tIns="0" rIns="0" bIns="0" rtlCol="0" anchor="ctr">
            <a:normAutofit/>
          </a:bodyPr>
          <a:lstStyle/>
          <a:p>
            <a:pPr algn="ctr" indent="0" marL="0">
              <a:lnSpc>
                <a:spcPct val="100000"/>
              </a:lnSpc>
              <a:buNone/>
            </a:pPr>
            <a:r>
              <a:rPr lang="en-US" sz="1140" b="1" dirty="0">
                <a:solidFill>
                  <a:srgbClr val="1B2A41"/>
                </a:solidFill>
                <a:latin typeface="Aptos" pitchFamily="34" charset="0"/>
                <a:ea typeface="Aptos" pitchFamily="34" charset="-122"/>
                <a:cs typeface="Aptos" pitchFamily="34" charset="-120"/>
              </a:rPr>
              <a:t>Summarize findings + caveats</a:t>
            </a:r>
            <a:endParaRPr lang="en-US" sz="1140" dirty="0"/>
          </a:p>
        </p:txBody>
      </p:sp>
      <p:sp>
        <p:nvSpPr>
          <p:cNvPr id="20" name="Shape 18"/>
          <p:cNvSpPr/>
          <p:nvPr/>
        </p:nvSpPr>
        <p:spPr>
          <a:xfrm>
            <a:off x="713232" y="3429000"/>
            <a:ext cx="3456432" cy="1325880"/>
          </a:xfrm>
          <a:prstGeom prst="roundRect">
            <a:avLst>
              <a:gd name="adj" fmla="val 8276"/>
            </a:avLst>
          </a:prstGeom>
          <a:solidFill>
            <a:srgbClr val="FFFFFF"/>
          </a:solidFill>
          <a:ln w="10160">
            <a:solidFill>
              <a:srgbClr val="D8E2EE"/>
            </a:solidFill>
            <a:prstDash val="solid"/>
          </a:ln>
        </p:spPr>
      </p:sp>
      <p:sp>
        <p:nvSpPr>
          <p:cNvPr id="21" name="Shape 19"/>
          <p:cNvSpPr/>
          <p:nvPr/>
        </p:nvSpPr>
        <p:spPr>
          <a:xfrm>
            <a:off x="731520" y="3447288"/>
            <a:ext cx="64008" cy="1289304"/>
          </a:xfrm>
          <a:prstGeom prst="roundRect">
            <a:avLst>
              <a:gd name="adj" fmla="val 42857"/>
            </a:avLst>
          </a:prstGeom>
          <a:solidFill>
            <a:srgbClr val="168C91"/>
          </a:solidFill>
          <a:ln w="12700">
            <a:solidFill>
              <a:srgbClr val="168C91">
                <a:alpha val="0"/>
              </a:srgbClr>
            </a:solidFill>
            <a:prstDash val="solid"/>
          </a:ln>
        </p:spPr>
      </p:sp>
      <p:sp>
        <p:nvSpPr>
          <p:cNvPr id="22" name="Text 20"/>
          <p:cNvSpPr txBox="1"/>
          <p:nvPr/>
        </p:nvSpPr>
        <p:spPr>
          <a:xfrm>
            <a:off x="923544" y="356616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Validate first</a:t>
            </a:r>
            <a:endParaRPr lang="en-US" sz="1600" dirty="0"/>
          </a:p>
        </p:txBody>
      </p:sp>
      <p:sp>
        <p:nvSpPr>
          <p:cNvPr id="23" name="Text 21"/>
          <p:cNvSpPr txBox="1"/>
          <p:nvPr/>
        </p:nvSpPr>
        <p:spPr>
          <a:xfrm>
            <a:off x="923544" y="3922776"/>
            <a:ext cx="3044952" cy="70408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53657C"/>
                </a:solidFill>
                <a:latin typeface="Aptos" pitchFamily="34" charset="0"/>
                <a:ea typeface="Aptos" pitchFamily="34" charset="-122"/>
                <a:cs typeface="Aptos" pitchFamily="34" charset="-120"/>
              </a:rPr>
              <a:t>Required columns and 0–100 completion percentage are checked by the included test.</a:t>
            </a:r>
            <a:endParaRPr lang="en-US" sz="1100" dirty="0"/>
          </a:p>
        </p:txBody>
      </p:sp>
      <p:sp>
        <p:nvSpPr>
          <p:cNvPr id="24" name="Shape 22"/>
          <p:cNvSpPr/>
          <p:nvPr/>
        </p:nvSpPr>
        <p:spPr>
          <a:xfrm>
            <a:off x="4370832" y="3429000"/>
            <a:ext cx="3456432" cy="1325880"/>
          </a:xfrm>
          <a:prstGeom prst="roundRect">
            <a:avLst>
              <a:gd name="adj" fmla="val 8276"/>
            </a:avLst>
          </a:prstGeom>
          <a:solidFill>
            <a:srgbClr val="FFFFFF"/>
          </a:solidFill>
          <a:ln w="10160">
            <a:solidFill>
              <a:srgbClr val="D8E2EE"/>
            </a:solidFill>
            <a:prstDash val="solid"/>
          </a:ln>
        </p:spPr>
      </p:sp>
      <p:sp>
        <p:nvSpPr>
          <p:cNvPr id="25" name="Shape 23"/>
          <p:cNvSpPr/>
          <p:nvPr/>
        </p:nvSpPr>
        <p:spPr>
          <a:xfrm>
            <a:off x="4389120" y="3447288"/>
            <a:ext cx="64008" cy="1289304"/>
          </a:xfrm>
          <a:prstGeom prst="roundRect">
            <a:avLst>
              <a:gd name="adj" fmla="val 42857"/>
            </a:avLst>
          </a:prstGeom>
          <a:solidFill>
            <a:srgbClr val="F4A261"/>
          </a:solidFill>
          <a:ln w="12700">
            <a:solidFill>
              <a:srgbClr val="F4A261">
                <a:alpha val="0"/>
              </a:srgbClr>
            </a:solidFill>
            <a:prstDash val="solid"/>
          </a:ln>
        </p:spPr>
      </p:sp>
      <p:sp>
        <p:nvSpPr>
          <p:cNvPr id="26" name="Text 24"/>
          <p:cNvSpPr txBox="1"/>
          <p:nvPr/>
        </p:nvSpPr>
        <p:spPr>
          <a:xfrm>
            <a:off x="4581144" y="356616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Verify numbers</a:t>
            </a:r>
            <a:endParaRPr lang="en-US" sz="1600" dirty="0"/>
          </a:p>
        </p:txBody>
      </p:sp>
      <p:sp>
        <p:nvSpPr>
          <p:cNvPr id="27" name="Text 25"/>
          <p:cNvSpPr txBox="1"/>
          <p:nvPr/>
        </p:nvSpPr>
        <p:spPr>
          <a:xfrm>
            <a:off x="4581144" y="3922776"/>
            <a:ext cx="3044952" cy="70408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53657C"/>
                </a:solidFill>
                <a:latin typeface="Aptos" pitchFamily="34" charset="0"/>
                <a:ea typeface="Aptos" pitchFamily="34" charset="-122"/>
                <a:cs typeface="Aptos" pitchFamily="34" charset="-120"/>
              </a:rPr>
              <a:t>Compare agent outputs with an independent calculation before presenting them.</a:t>
            </a:r>
            <a:endParaRPr lang="en-US" sz="1100" dirty="0"/>
          </a:p>
        </p:txBody>
      </p:sp>
      <p:sp>
        <p:nvSpPr>
          <p:cNvPr id="28" name="Shape 26"/>
          <p:cNvSpPr/>
          <p:nvPr/>
        </p:nvSpPr>
        <p:spPr>
          <a:xfrm>
            <a:off x="8028432" y="3429000"/>
            <a:ext cx="3456432" cy="1325880"/>
          </a:xfrm>
          <a:prstGeom prst="roundRect">
            <a:avLst>
              <a:gd name="adj" fmla="val 8276"/>
            </a:avLst>
          </a:prstGeom>
          <a:solidFill>
            <a:srgbClr val="FFFFFF"/>
          </a:solidFill>
          <a:ln w="10160">
            <a:solidFill>
              <a:srgbClr val="D8E2EE"/>
            </a:solidFill>
            <a:prstDash val="solid"/>
          </a:ln>
        </p:spPr>
      </p:sp>
      <p:sp>
        <p:nvSpPr>
          <p:cNvPr id="29" name="Shape 27"/>
          <p:cNvSpPr/>
          <p:nvPr/>
        </p:nvSpPr>
        <p:spPr>
          <a:xfrm>
            <a:off x="8046720" y="3447288"/>
            <a:ext cx="64008" cy="1289304"/>
          </a:xfrm>
          <a:prstGeom prst="roundRect">
            <a:avLst>
              <a:gd name="adj" fmla="val 42857"/>
            </a:avLst>
          </a:prstGeom>
          <a:solidFill>
            <a:srgbClr val="1D3557"/>
          </a:solidFill>
          <a:ln w="12700">
            <a:solidFill>
              <a:srgbClr val="1D3557">
                <a:alpha val="0"/>
              </a:srgbClr>
            </a:solidFill>
            <a:prstDash val="solid"/>
          </a:ln>
        </p:spPr>
      </p:sp>
      <p:sp>
        <p:nvSpPr>
          <p:cNvPr id="30" name="Text 28"/>
          <p:cNvSpPr txBox="1"/>
          <p:nvPr/>
        </p:nvSpPr>
        <p:spPr>
          <a:xfrm>
            <a:off x="8238744" y="356616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Respect data limits</a:t>
            </a:r>
            <a:endParaRPr lang="en-US" sz="1600" dirty="0"/>
          </a:p>
        </p:txBody>
      </p:sp>
      <p:sp>
        <p:nvSpPr>
          <p:cNvPr id="31" name="Text 29"/>
          <p:cNvSpPr txBox="1"/>
          <p:nvPr/>
        </p:nvSpPr>
        <p:spPr>
          <a:xfrm>
            <a:off x="8238744" y="3922776"/>
            <a:ext cx="3044952" cy="70408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53657C"/>
                </a:solidFill>
                <a:latin typeface="Aptos" pitchFamily="34" charset="0"/>
                <a:ea typeface="Aptos" pitchFamily="34" charset="-122"/>
                <a:cs typeface="Aptos" pitchFamily="34" charset="-120"/>
              </a:rPr>
              <a:t>Use synthetic data in the demo; do not upload private college/student records without permission.</a:t>
            </a:r>
            <a:endParaRPr lang="en-US" sz="1070" dirty="0"/>
          </a:p>
        </p:txBody>
      </p:sp>
      <p:sp>
        <p:nvSpPr>
          <p:cNvPr id="32" name="Shape 30"/>
          <p:cNvSpPr/>
          <p:nvPr/>
        </p:nvSpPr>
        <p:spPr>
          <a:xfrm>
            <a:off x="749808" y="5321808"/>
            <a:ext cx="2029968" cy="292608"/>
          </a:xfrm>
          <a:prstGeom prst="roundRect">
            <a:avLst>
              <a:gd name="adj" fmla="val 43750"/>
            </a:avLst>
          </a:prstGeom>
          <a:solidFill>
            <a:srgbClr val="E7F4F4"/>
          </a:solidFill>
          <a:ln w="12700">
            <a:solidFill>
              <a:srgbClr val="E7F4F4">
                <a:alpha val="0"/>
              </a:srgbClr>
            </a:solidFill>
            <a:prstDash val="solid"/>
          </a:ln>
        </p:spPr>
      </p:sp>
      <p:sp>
        <p:nvSpPr>
          <p:cNvPr id="33" name="Text 31"/>
          <p:cNvSpPr txBox="1"/>
          <p:nvPr/>
        </p:nvSpPr>
        <p:spPr>
          <a:xfrm>
            <a:off x="822960" y="5349240"/>
            <a:ext cx="188366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68C91"/>
                </a:solidFill>
                <a:latin typeface="Aptos" pitchFamily="34" charset="0"/>
                <a:ea typeface="Aptos" pitchFamily="34" charset="-122"/>
                <a:cs typeface="Aptos" pitchFamily="34" charset="-120"/>
              </a:rPr>
              <a:t>CSV included in repository</a:t>
            </a:r>
            <a:endParaRPr lang="en-US" sz="900" dirty="0"/>
          </a:p>
        </p:txBody>
      </p:sp>
      <p:sp>
        <p:nvSpPr>
          <p:cNvPr id="34" name="Shape 32"/>
          <p:cNvSpPr/>
          <p:nvPr/>
        </p:nvSpPr>
        <p:spPr>
          <a:xfrm>
            <a:off x="2926080" y="5321808"/>
            <a:ext cx="2880360" cy="292608"/>
          </a:xfrm>
          <a:prstGeom prst="roundRect">
            <a:avLst>
              <a:gd name="adj" fmla="val 43750"/>
            </a:avLst>
          </a:prstGeom>
          <a:solidFill>
            <a:srgbClr val="EAF0F6"/>
          </a:solidFill>
          <a:ln w="12700">
            <a:solidFill>
              <a:srgbClr val="EAF0F6">
                <a:alpha val="0"/>
              </a:srgbClr>
            </a:solidFill>
            <a:prstDash val="solid"/>
          </a:ln>
        </p:spPr>
      </p:sp>
      <p:sp>
        <p:nvSpPr>
          <p:cNvPr id="35" name="Text 33"/>
          <p:cNvSpPr txBox="1"/>
          <p:nvPr/>
        </p:nvSpPr>
        <p:spPr>
          <a:xfrm>
            <a:off x="2999232" y="5349240"/>
            <a:ext cx="2734056"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53657C"/>
                </a:solidFill>
                <a:latin typeface="Aptos" pitchFamily="34" charset="0"/>
                <a:ea typeface="Aptos" pitchFamily="34" charset="-122"/>
                <a:cs typeface="Aptos" pitchFamily="34" charset="-120"/>
              </a:rPr>
              <a:t>Actual Foundry analysis: pending verification</a:t>
            </a:r>
            <a:endParaRPr lang="en-US" sz="9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06 / EVALUATION &amp; SAFETY</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Measure behaviour, not just response fluency</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The listed tests are a plan. Replace pending status with results from real runs.</a:t>
            </a:r>
            <a:endParaRPr lang="en-US" sz="1200" dirty="0"/>
          </a:p>
        </p:txBody>
      </p:sp>
      <p:sp>
        <p:nvSpPr>
          <p:cNvPr id="5" name="Shape 3"/>
          <p:cNvSpPr/>
          <p:nvPr/>
        </p:nvSpPr>
        <p:spPr>
          <a:xfrm>
            <a:off x="685800" y="1737360"/>
            <a:ext cx="2286000" cy="438912"/>
          </a:xfrm>
          <a:prstGeom prst="rect">
            <a:avLst/>
          </a:prstGeom>
          <a:solidFill>
            <a:srgbClr val="13213C"/>
          </a:solidFill>
          <a:ln w="6350">
            <a:solidFill>
              <a:srgbClr val="13213C"/>
            </a:solidFill>
            <a:prstDash val="solid"/>
          </a:ln>
        </p:spPr>
      </p:sp>
      <p:sp>
        <p:nvSpPr>
          <p:cNvPr id="6" name="Text 4"/>
          <p:cNvSpPr txBox="1"/>
          <p:nvPr/>
        </p:nvSpPr>
        <p:spPr>
          <a:xfrm>
            <a:off x="795528" y="1810512"/>
            <a:ext cx="210312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FFFFFF"/>
                </a:solidFill>
                <a:latin typeface="Aptos" pitchFamily="34" charset="0"/>
                <a:ea typeface="Aptos" pitchFamily="34" charset="-122"/>
                <a:cs typeface="Aptos" pitchFamily="34" charset="-120"/>
              </a:rPr>
              <a:t>Test area</a:t>
            </a:r>
            <a:endParaRPr lang="en-US" sz="1100" dirty="0"/>
          </a:p>
        </p:txBody>
      </p:sp>
      <p:sp>
        <p:nvSpPr>
          <p:cNvPr id="7" name="Shape 5"/>
          <p:cNvSpPr/>
          <p:nvPr/>
        </p:nvSpPr>
        <p:spPr>
          <a:xfrm>
            <a:off x="2971800" y="1737360"/>
            <a:ext cx="6035040" cy="438912"/>
          </a:xfrm>
          <a:prstGeom prst="rect">
            <a:avLst/>
          </a:prstGeom>
          <a:solidFill>
            <a:srgbClr val="13213C"/>
          </a:solidFill>
          <a:ln w="6350">
            <a:solidFill>
              <a:srgbClr val="13213C"/>
            </a:solidFill>
            <a:prstDash val="solid"/>
          </a:ln>
        </p:spPr>
      </p:sp>
      <p:sp>
        <p:nvSpPr>
          <p:cNvPr id="8" name="Text 6"/>
          <p:cNvSpPr txBox="1"/>
          <p:nvPr/>
        </p:nvSpPr>
        <p:spPr>
          <a:xfrm>
            <a:off x="3081528" y="1810512"/>
            <a:ext cx="585216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FFFFFF"/>
                </a:solidFill>
                <a:latin typeface="Aptos" pitchFamily="34" charset="0"/>
                <a:ea typeface="Aptos" pitchFamily="34" charset="-122"/>
                <a:cs typeface="Aptos" pitchFamily="34" charset="-120"/>
              </a:rPr>
              <a:t>What to verify</a:t>
            </a:r>
            <a:endParaRPr lang="en-US" sz="1100" dirty="0"/>
          </a:p>
        </p:txBody>
      </p:sp>
      <p:sp>
        <p:nvSpPr>
          <p:cNvPr id="9" name="Shape 7"/>
          <p:cNvSpPr/>
          <p:nvPr/>
        </p:nvSpPr>
        <p:spPr>
          <a:xfrm>
            <a:off x="9006840" y="1737360"/>
            <a:ext cx="2377440" cy="438912"/>
          </a:xfrm>
          <a:prstGeom prst="rect">
            <a:avLst/>
          </a:prstGeom>
          <a:solidFill>
            <a:srgbClr val="13213C"/>
          </a:solidFill>
          <a:ln w="6350">
            <a:solidFill>
              <a:srgbClr val="13213C"/>
            </a:solidFill>
            <a:prstDash val="solid"/>
          </a:ln>
        </p:spPr>
      </p:sp>
      <p:sp>
        <p:nvSpPr>
          <p:cNvPr id="10" name="Text 8"/>
          <p:cNvSpPr txBox="1"/>
          <p:nvPr/>
        </p:nvSpPr>
        <p:spPr>
          <a:xfrm>
            <a:off x="9116568" y="1810512"/>
            <a:ext cx="219456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FFFFFF"/>
                </a:solidFill>
                <a:latin typeface="Aptos" pitchFamily="34" charset="0"/>
                <a:ea typeface="Aptos" pitchFamily="34" charset="-122"/>
                <a:cs typeface="Aptos" pitchFamily="34" charset="-120"/>
              </a:rPr>
              <a:t>Status</a:t>
            </a:r>
            <a:endParaRPr lang="en-US" sz="1100" dirty="0"/>
          </a:p>
        </p:txBody>
      </p:sp>
      <p:sp>
        <p:nvSpPr>
          <p:cNvPr id="11" name="Shape 9"/>
          <p:cNvSpPr/>
          <p:nvPr/>
        </p:nvSpPr>
        <p:spPr>
          <a:xfrm>
            <a:off x="685800" y="2176272"/>
            <a:ext cx="2286000" cy="594360"/>
          </a:xfrm>
          <a:prstGeom prst="rect">
            <a:avLst/>
          </a:prstGeom>
          <a:solidFill>
            <a:srgbClr val="FFFFFF"/>
          </a:solidFill>
          <a:ln w="6350">
            <a:solidFill>
              <a:srgbClr val="D8E2EE"/>
            </a:solidFill>
            <a:prstDash val="solid"/>
          </a:ln>
        </p:spPr>
      </p:sp>
      <p:sp>
        <p:nvSpPr>
          <p:cNvPr id="12" name="Text 10"/>
          <p:cNvSpPr txBox="1"/>
          <p:nvPr/>
        </p:nvSpPr>
        <p:spPr>
          <a:xfrm>
            <a:off x="795528" y="2249424"/>
            <a:ext cx="2084832" cy="4846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B2A41"/>
                </a:solidFill>
                <a:latin typeface="Aptos" pitchFamily="34" charset="0"/>
                <a:ea typeface="Aptos" pitchFamily="34" charset="-122"/>
                <a:cs typeface="Aptos" pitchFamily="34" charset="-120"/>
              </a:rPr>
              <a:t>Planning quality</a:t>
            </a:r>
            <a:endParaRPr lang="en-US" sz="1050" dirty="0"/>
          </a:p>
        </p:txBody>
      </p:sp>
      <p:sp>
        <p:nvSpPr>
          <p:cNvPr id="13" name="Shape 11"/>
          <p:cNvSpPr/>
          <p:nvPr/>
        </p:nvSpPr>
        <p:spPr>
          <a:xfrm>
            <a:off x="2971800" y="2176272"/>
            <a:ext cx="6035040" cy="594360"/>
          </a:xfrm>
          <a:prstGeom prst="rect">
            <a:avLst/>
          </a:prstGeom>
          <a:solidFill>
            <a:srgbClr val="FFFFFF"/>
          </a:solidFill>
          <a:ln w="6350">
            <a:solidFill>
              <a:srgbClr val="D8E2EE"/>
            </a:solidFill>
            <a:prstDash val="solid"/>
          </a:ln>
        </p:spPr>
      </p:sp>
      <p:sp>
        <p:nvSpPr>
          <p:cNvPr id="14" name="Text 12"/>
          <p:cNvSpPr txBox="1"/>
          <p:nvPr/>
        </p:nvSpPr>
        <p:spPr>
          <a:xfrm>
            <a:off x="3081528" y="2249424"/>
            <a:ext cx="5833872" cy="484632"/>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1B2A41"/>
                </a:solidFill>
                <a:latin typeface="Aptos" pitchFamily="34" charset="0"/>
                <a:ea typeface="Aptos" pitchFamily="34" charset="-122"/>
                <a:cs typeface="Aptos" pitchFamily="34" charset="-120"/>
              </a:rPr>
              <a:t>Includes scope, architecture, milestones, risks, and measurable acceptance criteria.</a:t>
            </a:r>
            <a:endParaRPr lang="en-US" sz="1020" dirty="0"/>
          </a:p>
        </p:txBody>
      </p:sp>
      <p:sp>
        <p:nvSpPr>
          <p:cNvPr id="15" name="Shape 13"/>
          <p:cNvSpPr/>
          <p:nvPr/>
        </p:nvSpPr>
        <p:spPr>
          <a:xfrm>
            <a:off x="9006840" y="2176272"/>
            <a:ext cx="2377440" cy="594360"/>
          </a:xfrm>
          <a:prstGeom prst="rect">
            <a:avLst/>
          </a:prstGeom>
          <a:solidFill>
            <a:srgbClr val="FFFFFF"/>
          </a:solidFill>
          <a:ln w="6350">
            <a:solidFill>
              <a:srgbClr val="D8E2EE"/>
            </a:solidFill>
            <a:prstDash val="solid"/>
          </a:ln>
        </p:spPr>
      </p:sp>
      <p:sp>
        <p:nvSpPr>
          <p:cNvPr id="16" name="Text 14"/>
          <p:cNvSpPr txBox="1"/>
          <p:nvPr/>
        </p:nvSpPr>
        <p:spPr>
          <a:xfrm>
            <a:off x="9116568" y="2249424"/>
            <a:ext cx="2176272" cy="484632"/>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A94A3A"/>
                </a:solidFill>
                <a:latin typeface="Aptos" pitchFamily="34" charset="0"/>
                <a:ea typeface="Aptos" pitchFamily="34" charset="-122"/>
                <a:cs typeface="Aptos" pitchFamily="34" charset="-120"/>
              </a:rPr>
              <a:t>Pending live run</a:t>
            </a:r>
            <a:endParaRPr lang="en-US" sz="1050" dirty="0"/>
          </a:p>
        </p:txBody>
      </p:sp>
      <p:sp>
        <p:nvSpPr>
          <p:cNvPr id="17" name="Shape 15"/>
          <p:cNvSpPr/>
          <p:nvPr/>
        </p:nvSpPr>
        <p:spPr>
          <a:xfrm>
            <a:off x="685800" y="2770632"/>
            <a:ext cx="2286000" cy="594360"/>
          </a:xfrm>
          <a:prstGeom prst="rect">
            <a:avLst/>
          </a:prstGeom>
          <a:solidFill>
            <a:srgbClr val="EDF2F7"/>
          </a:solidFill>
          <a:ln w="6350">
            <a:solidFill>
              <a:srgbClr val="D8E2EE"/>
            </a:solidFill>
            <a:prstDash val="solid"/>
          </a:ln>
        </p:spPr>
      </p:sp>
      <p:sp>
        <p:nvSpPr>
          <p:cNvPr id="18" name="Text 16"/>
          <p:cNvSpPr txBox="1"/>
          <p:nvPr/>
        </p:nvSpPr>
        <p:spPr>
          <a:xfrm>
            <a:off x="795528" y="2843784"/>
            <a:ext cx="2084832" cy="4846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B2A41"/>
                </a:solidFill>
                <a:latin typeface="Aptos" pitchFamily="34" charset="0"/>
                <a:ea typeface="Aptos" pitchFamily="34" charset="-122"/>
                <a:cs typeface="Aptos" pitchFamily="34" charset="-120"/>
              </a:rPr>
              <a:t>File-grounded answer</a:t>
            </a:r>
            <a:endParaRPr lang="en-US" sz="1050" dirty="0"/>
          </a:p>
        </p:txBody>
      </p:sp>
      <p:sp>
        <p:nvSpPr>
          <p:cNvPr id="19" name="Shape 17"/>
          <p:cNvSpPr/>
          <p:nvPr/>
        </p:nvSpPr>
        <p:spPr>
          <a:xfrm>
            <a:off x="2971800" y="2770632"/>
            <a:ext cx="6035040" cy="594360"/>
          </a:xfrm>
          <a:prstGeom prst="rect">
            <a:avLst/>
          </a:prstGeom>
          <a:solidFill>
            <a:srgbClr val="EDF2F7"/>
          </a:solidFill>
          <a:ln w="6350">
            <a:solidFill>
              <a:srgbClr val="D8E2EE"/>
            </a:solidFill>
            <a:prstDash val="solid"/>
          </a:ln>
        </p:spPr>
      </p:sp>
      <p:sp>
        <p:nvSpPr>
          <p:cNvPr id="20" name="Text 18"/>
          <p:cNvSpPr txBox="1"/>
          <p:nvPr/>
        </p:nvSpPr>
        <p:spPr>
          <a:xfrm>
            <a:off x="3081528" y="2843784"/>
            <a:ext cx="5833872" cy="484632"/>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1B2A41"/>
                </a:solidFill>
                <a:latin typeface="Aptos" pitchFamily="34" charset="0"/>
                <a:ea typeface="Aptos" pitchFamily="34" charset="-122"/>
                <a:cs typeface="Aptos" pitchFamily="34" charset="-120"/>
              </a:rPr>
              <a:t>Matches the uploaded brief and does not invent missing policy.</a:t>
            </a:r>
            <a:endParaRPr lang="en-US" sz="1020" dirty="0"/>
          </a:p>
        </p:txBody>
      </p:sp>
      <p:sp>
        <p:nvSpPr>
          <p:cNvPr id="21" name="Shape 19"/>
          <p:cNvSpPr/>
          <p:nvPr/>
        </p:nvSpPr>
        <p:spPr>
          <a:xfrm>
            <a:off x="9006840" y="2770632"/>
            <a:ext cx="2377440" cy="594360"/>
          </a:xfrm>
          <a:prstGeom prst="rect">
            <a:avLst/>
          </a:prstGeom>
          <a:solidFill>
            <a:srgbClr val="EDF2F7"/>
          </a:solidFill>
          <a:ln w="6350">
            <a:solidFill>
              <a:srgbClr val="D8E2EE"/>
            </a:solidFill>
            <a:prstDash val="solid"/>
          </a:ln>
        </p:spPr>
      </p:sp>
      <p:sp>
        <p:nvSpPr>
          <p:cNvPr id="22" name="Text 20"/>
          <p:cNvSpPr txBox="1"/>
          <p:nvPr/>
        </p:nvSpPr>
        <p:spPr>
          <a:xfrm>
            <a:off x="9116568" y="2843784"/>
            <a:ext cx="2176272" cy="484632"/>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A94A3A"/>
                </a:solidFill>
                <a:latin typeface="Aptos" pitchFamily="34" charset="0"/>
                <a:ea typeface="Aptos" pitchFamily="34" charset="-122"/>
                <a:cs typeface="Aptos" pitchFamily="34" charset="-120"/>
              </a:rPr>
              <a:t>Pending live run</a:t>
            </a:r>
            <a:endParaRPr lang="en-US" sz="1050" dirty="0"/>
          </a:p>
        </p:txBody>
      </p:sp>
      <p:sp>
        <p:nvSpPr>
          <p:cNvPr id="23" name="Shape 21"/>
          <p:cNvSpPr/>
          <p:nvPr/>
        </p:nvSpPr>
        <p:spPr>
          <a:xfrm>
            <a:off x="685800" y="3364992"/>
            <a:ext cx="2286000" cy="594360"/>
          </a:xfrm>
          <a:prstGeom prst="rect">
            <a:avLst/>
          </a:prstGeom>
          <a:solidFill>
            <a:srgbClr val="FFFFFF"/>
          </a:solidFill>
          <a:ln w="6350">
            <a:solidFill>
              <a:srgbClr val="D8E2EE"/>
            </a:solidFill>
            <a:prstDash val="solid"/>
          </a:ln>
        </p:spPr>
      </p:sp>
      <p:sp>
        <p:nvSpPr>
          <p:cNvPr id="24" name="Text 22"/>
          <p:cNvSpPr txBox="1"/>
          <p:nvPr/>
        </p:nvSpPr>
        <p:spPr>
          <a:xfrm>
            <a:off x="795528" y="3438144"/>
            <a:ext cx="2084832" cy="4846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B2A41"/>
                </a:solidFill>
                <a:latin typeface="Aptos" pitchFamily="34" charset="0"/>
                <a:ea typeface="Aptos" pitchFamily="34" charset="-122"/>
                <a:cs typeface="Aptos" pitchFamily="34" charset="-120"/>
              </a:rPr>
              <a:t>Numeric correctness</a:t>
            </a:r>
            <a:endParaRPr lang="en-US" sz="1050" dirty="0"/>
          </a:p>
        </p:txBody>
      </p:sp>
      <p:sp>
        <p:nvSpPr>
          <p:cNvPr id="25" name="Shape 23"/>
          <p:cNvSpPr/>
          <p:nvPr/>
        </p:nvSpPr>
        <p:spPr>
          <a:xfrm>
            <a:off x="2971800" y="3364992"/>
            <a:ext cx="6035040" cy="594360"/>
          </a:xfrm>
          <a:prstGeom prst="rect">
            <a:avLst/>
          </a:prstGeom>
          <a:solidFill>
            <a:srgbClr val="FFFFFF"/>
          </a:solidFill>
          <a:ln w="6350">
            <a:solidFill>
              <a:srgbClr val="D8E2EE"/>
            </a:solidFill>
            <a:prstDash val="solid"/>
          </a:ln>
        </p:spPr>
      </p:sp>
      <p:sp>
        <p:nvSpPr>
          <p:cNvPr id="26" name="Text 24"/>
          <p:cNvSpPr txBox="1"/>
          <p:nvPr/>
        </p:nvSpPr>
        <p:spPr>
          <a:xfrm>
            <a:off x="3081528" y="3438144"/>
            <a:ext cx="5833872" cy="484632"/>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1B2A41"/>
                </a:solidFill>
                <a:latin typeface="Aptos" pitchFamily="34" charset="0"/>
                <a:ea typeface="Aptos" pitchFamily="34" charset="-122"/>
                <a:cs typeface="Aptos" pitchFamily="34" charset="-120"/>
              </a:rPr>
              <a:t>CSV metrics match an independently calculated answer.</a:t>
            </a:r>
            <a:endParaRPr lang="en-US" sz="1020" dirty="0"/>
          </a:p>
        </p:txBody>
      </p:sp>
      <p:sp>
        <p:nvSpPr>
          <p:cNvPr id="27" name="Shape 25"/>
          <p:cNvSpPr/>
          <p:nvPr/>
        </p:nvSpPr>
        <p:spPr>
          <a:xfrm>
            <a:off x="9006840" y="3364992"/>
            <a:ext cx="2377440" cy="594360"/>
          </a:xfrm>
          <a:prstGeom prst="rect">
            <a:avLst/>
          </a:prstGeom>
          <a:solidFill>
            <a:srgbClr val="FFFFFF"/>
          </a:solidFill>
          <a:ln w="6350">
            <a:solidFill>
              <a:srgbClr val="D8E2EE"/>
            </a:solidFill>
            <a:prstDash val="solid"/>
          </a:ln>
        </p:spPr>
      </p:sp>
      <p:sp>
        <p:nvSpPr>
          <p:cNvPr id="28" name="Text 26"/>
          <p:cNvSpPr txBox="1"/>
          <p:nvPr/>
        </p:nvSpPr>
        <p:spPr>
          <a:xfrm>
            <a:off x="9116568" y="3438144"/>
            <a:ext cx="2176272" cy="484632"/>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A94A3A"/>
                </a:solidFill>
                <a:latin typeface="Aptos" pitchFamily="34" charset="0"/>
                <a:ea typeface="Aptos" pitchFamily="34" charset="-122"/>
                <a:cs typeface="Aptos" pitchFamily="34" charset="-120"/>
              </a:rPr>
              <a:t>Pending live run</a:t>
            </a:r>
            <a:endParaRPr lang="en-US" sz="1050" dirty="0"/>
          </a:p>
        </p:txBody>
      </p:sp>
      <p:sp>
        <p:nvSpPr>
          <p:cNvPr id="29" name="Shape 27"/>
          <p:cNvSpPr/>
          <p:nvPr/>
        </p:nvSpPr>
        <p:spPr>
          <a:xfrm>
            <a:off x="685800" y="3959352"/>
            <a:ext cx="2286000" cy="594360"/>
          </a:xfrm>
          <a:prstGeom prst="rect">
            <a:avLst/>
          </a:prstGeom>
          <a:solidFill>
            <a:srgbClr val="EDF2F7"/>
          </a:solidFill>
          <a:ln w="6350">
            <a:solidFill>
              <a:srgbClr val="D8E2EE"/>
            </a:solidFill>
            <a:prstDash val="solid"/>
          </a:ln>
        </p:spPr>
      </p:sp>
      <p:sp>
        <p:nvSpPr>
          <p:cNvPr id="30" name="Text 28"/>
          <p:cNvSpPr txBox="1"/>
          <p:nvPr/>
        </p:nvSpPr>
        <p:spPr>
          <a:xfrm>
            <a:off x="795528" y="4032504"/>
            <a:ext cx="2084832" cy="4846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B2A41"/>
                </a:solidFill>
                <a:latin typeface="Aptos" pitchFamily="34" charset="0"/>
                <a:ea typeface="Aptos" pitchFamily="34" charset="-122"/>
                <a:cs typeface="Aptos" pitchFamily="34" charset="-120"/>
              </a:rPr>
              <a:t>MCP and references</a:t>
            </a:r>
            <a:endParaRPr lang="en-US" sz="1050" dirty="0"/>
          </a:p>
        </p:txBody>
      </p:sp>
      <p:sp>
        <p:nvSpPr>
          <p:cNvPr id="31" name="Shape 29"/>
          <p:cNvSpPr/>
          <p:nvPr/>
        </p:nvSpPr>
        <p:spPr>
          <a:xfrm>
            <a:off x="2971800" y="3959352"/>
            <a:ext cx="6035040" cy="594360"/>
          </a:xfrm>
          <a:prstGeom prst="rect">
            <a:avLst/>
          </a:prstGeom>
          <a:solidFill>
            <a:srgbClr val="EDF2F7"/>
          </a:solidFill>
          <a:ln w="6350">
            <a:solidFill>
              <a:srgbClr val="D8E2EE"/>
            </a:solidFill>
            <a:prstDash val="solid"/>
          </a:ln>
        </p:spPr>
      </p:sp>
      <p:sp>
        <p:nvSpPr>
          <p:cNvPr id="32" name="Text 30"/>
          <p:cNvSpPr txBox="1"/>
          <p:nvPr/>
        </p:nvSpPr>
        <p:spPr>
          <a:xfrm>
            <a:off x="3081528" y="4032504"/>
            <a:ext cx="5833872" cy="484632"/>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1B2A41"/>
                </a:solidFill>
                <a:latin typeface="Aptos" pitchFamily="34" charset="0"/>
                <a:ea typeface="Aptos" pitchFamily="34" charset="-122"/>
                <a:cs typeface="Aptos" pitchFamily="34" charset="-120"/>
              </a:rPr>
              <a:t>Tool executes and links to official Microsoft Learn content.</a:t>
            </a:r>
            <a:endParaRPr lang="en-US" sz="1020" dirty="0"/>
          </a:p>
        </p:txBody>
      </p:sp>
      <p:sp>
        <p:nvSpPr>
          <p:cNvPr id="33" name="Shape 31"/>
          <p:cNvSpPr/>
          <p:nvPr/>
        </p:nvSpPr>
        <p:spPr>
          <a:xfrm>
            <a:off x="9006840" y="3959352"/>
            <a:ext cx="2377440" cy="594360"/>
          </a:xfrm>
          <a:prstGeom prst="rect">
            <a:avLst/>
          </a:prstGeom>
          <a:solidFill>
            <a:srgbClr val="EDF2F7"/>
          </a:solidFill>
          <a:ln w="6350">
            <a:solidFill>
              <a:srgbClr val="D8E2EE"/>
            </a:solidFill>
            <a:prstDash val="solid"/>
          </a:ln>
        </p:spPr>
      </p:sp>
      <p:sp>
        <p:nvSpPr>
          <p:cNvPr id="34" name="Text 32"/>
          <p:cNvSpPr txBox="1"/>
          <p:nvPr/>
        </p:nvSpPr>
        <p:spPr>
          <a:xfrm>
            <a:off x="9116568" y="4032504"/>
            <a:ext cx="2176272" cy="484632"/>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A94A3A"/>
                </a:solidFill>
                <a:latin typeface="Aptos" pitchFamily="34" charset="0"/>
                <a:ea typeface="Aptos" pitchFamily="34" charset="-122"/>
                <a:cs typeface="Aptos" pitchFamily="34" charset="-120"/>
              </a:rPr>
              <a:t>Pending MCP setup</a:t>
            </a:r>
            <a:endParaRPr lang="en-US" sz="1050" dirty="0"/>
          </a:p>
        </p:txBody>
      </p:sp>
      <p:sp>
        <p:nvSpPr>
          <p:cNvPr id="35" name="Shape 33"/>
          <p:cNvSpPr/>
          <p:nvPr/>
        </p:nvSpPr>
        <p:spPr>
          <a:xfrm>
            <a:off x="685800" y="4553712"/>
            <a:ext cx="2286000" cy="594360"/>
          </a:xfrm>
          <a:prstGeom prst="rect">
            <a:avLst/>
          </a:prstGeom>
          <a:solidFill>
            <a:srgbClr val="FFFFFF"/>
          </a:solidFill>
          <a:ln w="6350">
            <a:solidFill>
              <a:srgbClr val="D8E2EE"/>
            </a:solidFill>
            <a:prstDash val="solid"/>
          </a:ln>
        </p:spPr>
      </p:sp>
      <p:sp>
        <p:nvSpPr>
          <p:cNvPr id="36" name="Text 34"/>
          <p:cNvSpPr txBox="1"/>
          <p:nvPr/>
        </p:nvSpPr>
        <p:spPr>
          <a:xfrm>
            <a:off x="795528" y="4626864"/>
            <a:ext cx="2084832" cy="4846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B2A41"/>
                </a:solidFill>
                <a:latin typeface="Aptos" pitchFamily="34" charset="0"/>
                <a:ea typeface="Aptos" pitchFamily="34" charset="-122"/>
                <a:cs typeface="Aptos" pitchFamily="34" charset="-120"/>
              </a:rPr>
              <a:t>Safety / guardrails</a:t>
            </a:r>
            <a:endParaRPr lang="en-US" sz="1050" dirty="0"/>
          </a:p>
        </p:txBody>
      </p:sp>
      <p:sp>
        <p:nvSpPr>
          <p:cNvPr id="37" name="Shape 35"/>
          <p:cNvSpPr/>
          <p:nvPr/>
        </p:nvSpPr>
        <p:spPr>
          <a:xfrm>
            <a:off x="2971800" y="4553712"/>
            <a:ext cx="6035040" cy="594360"/>
          </a:xfrm>
          <a:prstGeom prst="rect">
            <a:avLst/>
          </a:prstGeom>
          <a:solidFill>
            <a:srgbClr val="FFFFFF"/>
          </a:solidFill>
          <a:ln w="6350">
            <a:solidFill>
              <a:srgbClr val="D8E2EE"/>
            </a:solidFill>
            <a:prstDash val="solid"/>
          </a:ln>
        </p:spPr>
      </p:sp>
      <p:sp>
        <p:nvSpPr>
          <p:cNvPr id="38" name="Text 36"/>
          <p:cNvSpPr txBox="1"/>
          <p:nvPr/>
        </p:nvSpPr>
        <p:spPr>
          <a:xfrm>
            <a:off x="3081528" y="4626864"/>
            <a:ext cx="5833872" cy="484632"/>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1B2A41"/>
                </a:solidFill>
                <a:latin typeface="Aptos" pitchFamily="34" charset="0"/>
                <a:ea typeface="Aptos" pitchFamily="34" charset="-122"/>
                <a:cs typeface="Aptos" pitchFamily="34" charset="-120"/>
              </a:rPr>
              <a:t>Actual block/allow behaviour recorded for approved test prompts.</a:t>
            </a:r>
            <a:endParaRPr lang="en-US" sz="1020" dirty="0"/>
          </a:p>
        </p:txBody>
      </p:sp>
      <p:sp>
        <p:nvSpPr>
          <p:cNvPr id="39" name="Shape 37"/>
          <p:cNvSpPr/>
          <p:nvPr/>
        </p:nvSpPr>
        <p:spPr>
          <a:xfrm>
            <a:off x="9006840" y="4553712"/>
            <a:ext cx="2377440" cy="594360"/>
          </a:xfrm>
          <a:prstGeom prst="rect">
            <a:avLst/>
          </a:prstGeom>
          <a:solidFill>
            <a:srgbClr val="FFFFFF"/>
          </a:solidFill>
          <a:ln w="6350">
            <a:solidFill>
              <a:srgbClr val="D8E2EE"/>
            </a:solidFill>
            <a:prstDash val="solid"/>
          </a:ln>
        </p:spPr>
      </p:sp>
      <p:sp>
        <p:nvSpPr>
          <p:cNvPr id="40" name="Text 38"/>
          <p:cNvSpPr txBox="1"/>
          <p:nvPr/>
        </p:nvSpPr>
        <p:spPr>
          <a:xfrm>
            <a:off x="9116568" y="4626864"/>
            <a:ext cx="2176272" cy="484632"/>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A94A3A"/>
                </a:solidFill>
                <a:latin typeface="Aptos" pitchFamily="34" charset="0"/>
                <a:ea typeface="Aptos" pitchFamily="34" charset="-122"/>
                <a:cs typeface="Aptos" pitchFamily="34" charset="-120"/>
              </a:rPr>
              <a:t>Pending live run</a:t>
            </a:r>
            <a:endParaRPr lang="en-US" sz="1050" dirty="0"/>
          </a:p>
        </p:txBody>
      </p:sp>
      <p:sp>
        <p:nvSpPr>
          <p:cNvPr id="41" name="Text 39"/>
          <p:cNvSpPr txBox="1"/>
          <p:nvPr/>
        </p:nvSpPr>
        <p:spPr>
          <a:xfrm>
            <a:off x="795528" y="5440680"/>
            <a:ext cx="10515600" cy="32004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168C91"/>
                </a:solidFill>
                <a:latin typeface="Aptos" pitchFamily="34" charset="0"/>
                <a:ea typeface="Aptos" pitchFamily="34" charset="-122"/>
                <a:cs typeface="Aptos" pitchFamily="34" charset="-120"/>
              </a:rPr>
              <a:t>Evaluation score, latency, and cost should be reported only after they are measured.</a:t>
            </a:r>
            <a:endParaRPr lang="en-US" sz="12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07 / TRAINING ALIGNMENT</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How the seven Microsoft links map to the project</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Each link is a hands-on exercise or module; the examples are not automatically one finished application.</a:t>
            </a:r>
            <a:endParaRPr lang="en-US" sz="1200" dirty="0"/>
          </a:p>
        </p:txBody>
      </p:sp>
      <p:sp>
        <p:nvSpPr>
          <p:cNvPr id="5" name="Shape 3"/>
          <p:cNvSpPr/>
          <p:nvPr/>
        </p:nvSpPr>
        <p:spPr>
          <a:xfrm>
            <a:off x="731520" y="1728216"/>
            <a:ext cx="384048" cy="384048"/>
          </a:xfrm>
          <a:prstGeom prst="ellipse">
            <a:avLst/>
          </a:prstGeom>
          <a:solidFill>
            <a:srgbClr val="168C91"/>
          </a:solidFill>
          <a:ln w="12700">
            <a:solidFill>
              <a:srgbClr val="168C91"/>
            </a:solidFill>
            <a:prstDash val="solid"/>
          </a:ln>
        </p:spPr>
      </p:sp>
      <p:sp>
        <p:nvSpPr>
          <p:cNvPr id="6" name="Text 4"/>
          <p:cNvSpPr txBox="1"/>
          <p:nvPr/>
        </p:nvSpPr>
        <p:spPr>
          <a:xfrm>
            <a:off x="758952" y="1783080"/>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7" name="Text 5"/>
          <p:cNvSpPr txBox="1"/>
          <p:nvPr/>
        </p:nvSpPr>
        <p:spPr>
          <a:xfrm>
            <a:off x="1261872" y="1682496"/>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Foundry project + model</a:t>
            </a:r>
            <a:endParaRPr lang="en-US" sz="1130" dirty="0"/>
          </a:p>
        </p:txBody>
      </p:sp>
      <p:sp>
        <p:nvSpPr>
          <p:cNvPr id="8" name="Text 6"/>
          <p:cNvSpPr txBox="1"/>
          <p:nvPr/>
        </p:nvSpPr>
        <p:spPr>
          <a:xfrm>
            <a:off x="1261872" y="1920240"/>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Create project and inspect endpoints</a:t>
            </a:r>
            <a:endParaRPr lang="en-US" sz="930" dirty="0"/>
          </a:p>
        </p:txBody>
      </p:sp>
      <p:sp>
        <p:nvSpPr>
          <p:cNvPr id="9" name="Shape 7"/>
          <p:cNvSpPr/>
          <p:nvPr/>
        </p:nvSpPr>
        <p:spPr>
          <a:xfrm>
            <a:off x="731520" y="2295144"/>
            <a:ext cx="384048" cy="384048"/>
          </a:xfrm>
          <a:prstGeom prst="ellipse">
            <a:avLst/>
          </a:prstGeom>
          <a:solidFill>
            <a:srgbClr val="168C91"/>
          </a:solidFill>
          <a:ln w="12700">
            <a:solidFill>
              <a:srgbClr val="168C91"/>
            </a:solidFill>
            <a:prstDash val="solid"/>
          </a:ln>
        </p:spPr>
      </p:sp>
      <p:sp>
        <p:nvSpPr>
          <p:cNvPr id="10" name="Text 8"/>
          <p:cNvSpPr txBox="1"/>
          <p:nvPr/>
        </p:nvSpPr>
        <p:spPr>
          <a:xfrm>
            <a:off x="758952" y="2350008"/>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11" name="Text 9"/>
          <p:cNvSpPr txBox="1"/>
          <p:nvPr/>
        </p:nvSpPr>
        <p:spPr>
          <a:xfrm>
            <a:off x="1261872" y="2249424"/>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Model catalog + evaluation</a:t>
            </a:r>
            <a:endParaRPr lang="en-US" sz="1130" dirty="0"/>
          </a:p>
        </p:txBody>
      </p:sp>
      <p:sp>
        <p:nvSpPr>
          <p:cNvPr id="12" name="Text 10"/>
          <p:cNvSpPr txBox="1"/>
          <p:nvPr/>
        </p:nvSpPr>
        <p:spPr>
          <a:xfrm>
            <a:off x="1261872" y="2487168"/>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Compare quality / cost / safety</a:t>
            </a:r>
            <a:endParaRPr lang="en-US" sz="930" dirty="0"/>
          </a:p>
        </p:txBody>
      </p:sp>
      <p:sp>
        <p:nvSpPr>
          <p:cNvPr id="13" name="Shape 11"/>
          <p:cNvSpPr/>
          <p:nvPr/>
        </p:nvSpPr>
        <p:spPr>
          <a:xfrm>
            <a:off x="731520" y="2862072"/>
            <a:ext cx="384048" cy="384048"/>
          </a:xfrm>
          <a:prstGeom prst="ellipse">
            <a:avLst/>
          </a:prstGeom>
          <a:solidFill>
            <a:srgbClr val="168C91"/>
          </a:solidFill>
          <a:ln w="12700">
            <a:solidFill>
              <a:srgbClr val="168C91"/>
            </a:solidFill>
            <a:prstDash val="solid"/>
          </a:ln>
        </p:spPr>
      </p:sp>
      <p:sp>
        <p:nvSpPr>
          <p:cNvPr id="14" name="Text 12"/>
          <p:cNvSpPr txBox="1"/>
          <p:nvPr/>
        </p:nvSpPr>
        <p:spPr>
          <a:xfrm>
            <a:off x="758952" y="2916936"/>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15" name="Text 13"/>
          <p:cNvSpPr txBox="1"/>
          <p:nvPr/>
        </p:nvSpPr>
        <p:spPr>
          <a:xfrm>
            <a:off x="1261872" y="2816352"/>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Tools-enabled chat app</a:t>
            </a:r>
            <a:endParaRPr lang="en-US" sz="1130" dirty="0"/>
          </a:p>
        </p:txBody>
      </p:sp>
      <p:sp>
        <p:nvSpPr>
          <p:cNvPr id="16" name="Text 14"/>
          <p:cNvSpPr txBox="1"/>
          <p:nvPr/>
        </p:nvSpPr>
        <p:spPr>
          <a:xfrm>
            <a:off x="1261872" y="3054096"/>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Use web_search and file_search</a:t>
            </a:r>
            <a:endParaRPr lang="en-US" sz="930" dirty="0"/>
          </a:p>
        </p:txBody>
      </p:sp>
      <p:sp>
        <p:nvSpPr>
          <p:cNvPr id="17" name="Shape 15"/>
          <p:cNvSpPr/>
          <p:nvPr/>
        </p:nvSpPr>
        <p:spPr>
          <a:xfrm>
            <a:off x="731520" y="3429000"/>
            <a:ext cx="384048" cy="384048"/>
          </a:xfrm>
          <a:prstGeom prst="ellipse">
            <a:avLst/>
          </a:prstGeom>
          <a:solidFill>
            <a:srgbClr val="168C91"/>
          </a:solidFill>
          <a:ln w="12700">
            <a:solidFill>
              <a:srgbClr val="168C91"/>
            </a:solidFill>
            <a:prstDash val="solid"/>
          </a:ln>
        </p:spPr>
      </p:sp>
      <p:sp>
        <p:nvSpPr>
          <p:cNvPr id="18" name="Text 16"/>
          <p:cNvSpPr txBox="1"/>
          <p:nvPr/>
        </p:nvSpPr>
        <p:spPr>
          <a:xfrm>
            <a:off x="758952" y="3483864"/>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19" name="Text 17"/>
          <p:cNvSpPr txBox="1"/>
          <p:nvPr/>
        </p:nvSpPr>
        <p:spPr>
          <a:xfrm>
            <a:off x="1261872" y="3383280"/>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Content filters</a:t>
            </a:r>
            <a:endParaRPr lang="en-US" sz="1130" dirty="0"/>
          </a:p>
        </p:txBody>
      </p:sp>
      <p:sp>
        <p:nvSpPr>
          <p:cNvPr id="20" name="Text 18"/>
          <p:cNvSpPr txBox="1"/>
          <p:nvPr/>
        </p:nvSpPr>
        <p:spPr>
          <a:xfrm>
            <a:off x="1261872" y="3621024"/>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Configure and test guardrails</a:t>
            </a:r>
            <a:endParaRPr lang="en-US" sz="930" dirty="0"/>
          </a:p>
        </p:txBody>
      </p:sp>
      <p:sp>
        <p:nvSpPr>
          <p:cNvPr id="21" name="Shape 19"/>
          <p:cNvSpPr/>
          <p:nvPr/>
        </p:nvSpPr>
        <p:spPr>
          <a:xfrm>
            <a:off x="6172200" y="1728216"/>
            <a:ext cx="384048" cy="384048"/>
          </a:xfrm>
          <a:prstGeom prst="ellipse">
            <a:avLst/>
          </a:prstGeom>
          <a:solidFill>
            <a:srgbClr val="168C91"/>
          </a:solidFill>
          <a:ln w="12700">
            <a:solidFill>
              <a:srgbClr val="168C91"/>
            </a:solidFill>
            <a:prstDash val="solid"/>
          </a:ln>
        </p:spPr>
      </p:sp>
      <p:sp>
        <p:nvSpPr>
          <p:cNvPr id="22" name="Text 20"/>
          <p:cNvSpPr txBox="1"/>
          <p:nvPr/>
        </p:nvSpPr>
        <p:spPr>
          <a:xfrm>
            <a:off x="6199632" y="1783080"/>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05</a:t>
            </a:r>
            <a:endParaRPr lang="en-US" sz="900" dirty="0"/>
          </a:p>
        </p:txBody>
      </p:sp>
      <p:sp>
        <p:nvSpPr>
          <p:cNvPr id="23" name="Text 21"/>
          <p:cNvSpPr txBox="1"/>
          <p:nvPr/>
        </p:nvSpPr>
        <p:spPr>
          <a:xfrm>
            <a:off x="6702552" y="1682496"/>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Portal + VS Code agent</a:t>
            </a:r>
            <a:endParaRPr lang="en-US" sz="1130" dirty="0"/>
          </a:p>
        </p:txBody>
      </p:sp>
      <p:sp>
        <p:nvSpPr>
          <p:cNvPr id="24" name="Text 22"/>
          <p:cNvSpPr txBox="1"/>
          <p:nvPr/>
        </p:nvSpPr>
        <p:spPr>
          <a:xfrm>
            <a:off x="6702552" y="1920240"/>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Ground docs and analyze CSV</a:t>
            </a:r>
            <a:endParaRPr lang="en-US" sz="930" dirty="0"/>
          </a:p>
        </p:txBody>
      </p:sp>
      <p:sp>
        <p:nvSpPr>
          <p:cNvPr id="25" name="Shape 23"/>
          <p:cNvSpPr/>
          <p:nvPr/>
        </p:nvSpPr>
        <p:spPr>
          <a:xfrm>
            <a:off x="6172200" y="2295144"/>
            <a:ext cx="384048" cy="384048"/>
          </a:xfrm>
          <a:prstGeom prst="ellipse">
            <a:avLst/>
          </a:prstGeom>
          <a:solidFill>
            <a:srgbClr val="168C91"/>
          </a:solidFill>
          <a:ln w="12700">
            <a:solidFill>
              <a:srgbClr val="168C91"/>
            </a:solidFill>
            <a:prstDash val="solid"/>
          </a:ln>
        </p:spPr>
      </p:sp>
      <p:sp>
        <p:nvSpPr>
          <p:cNvPr id="26" name="Text 24"/>
          <p:cNvSpPr txBox="1"/>
          <p:nvPr/>
        </p:nvSpPr>
        <p:spPr>
          <a:xfrm>
            <a:off x="6199632" y="2350008"/>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06</a:t>
            </a:r>
            <a:endParaRPr lang="en-US" sz="900" dirty="0"/>
          </a:p>
        </p:txBody>
      </p:sp>
      <p:sp>
        <p:nvSpPr>
          <p:cNvPr id="27" name="Text 25"/>
          <p:cNvSpPr txBox="1"/>
          <p:nvPr/>
        </p:nvSpPr>
        <p:spPr>
          <a:xfrm>
            <a:off x="6702552" y="2249424"/>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Agent development module</a:t>
            </a:r>
            <a:endParaRPr lang="en-US" sz="1130" dirty="0"/>
          </a:p>
        </p:txBody>
      </p:sp>
      <p:sp>
        <p:nvSpPr>
          <p:cNvPr id="28" name="Text 26"/>
          <p:cNvSpPr txBox="1"/>
          <p:nvPr/>
        </p:nvSpPr>
        <p:spPr>
          <a:xfrm>
            <a:off x="6702552" y="2487168"/>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Understand integration patterns</a:t>
            </a:r>
            <a:endParaRPr lang="en-US" sz="930" dirty="0"/>
          </a:p>
        </p:txBody>
      </p:sp>
      <p:sp>
        <p:nvSpPr>
          <p:cNvPr id="29" name="Shape 27"/>
          <p:cNvSpPr/>
          <p:nvPr/>
        </p:nvSpPr>
        <p:spPr>
          <a:xfrm>
            <a:off x="6172200" y="2862072"/>
            <a:ext cx="384048" cy="384048"/>
          </a:xfrm>
          <a:prstGeom prst="ellipse">
            <a:avLst/>
          </a:prstGeom>
          <a:solidFill>
            <a:srgbClr val="168C91"/>
          </a:solidFill>
          <a:ln w="12700">
            <a:solidFill>
              <a:srgbClr val="168C91"/>
            </a:solidFill>
            <a:prstDash val="solid"/>
          </a:ln>
        </p:spPr>
      </p:sp>
      <p:sp>
        <p:nvSpPr>
          <p:cNvPr id="30" name="Text 28"/>
          <p:cNvSpPr txBox="1"/>
          <p:nvPr/>
        </p:nvSpPr>
        <p:spPr>
          <a:xfrm>
            <a:off x="6199632" y="2916936"/>
            <a:ext cx="329184" cy="20116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07</a:t>
            </a:r>
            <a:endParaRPr lang="en-US" sz="900" dirty="0"/>
          </a:p>
        </p:txBody>
      </p:sp>
      <p:sp>
        <p:nvSpPr>
          <p:cNvPr id="31" name="Text 29"/>
          <p:cNvSpPr txBox="1"/>
          <p:nvPr/>
        </p:nvSpPr>
        <p:spPr>
          <a:xfrm>
            <a:off x="6702552" y="2816352"/>
            <a:ext cx="4526280" cy="210312"/>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13213C"/>
                </a:solidFill>
                <a:latin typeface="Aptos" pitchFamily="34" charset="0"/>
                <a:ea typeface="Aptos" pitchFamily="34" charset="-122"/>
                <a:cs typeface="Aptos" pitchFamily="34" charset="-120"/>
              </a:rPr>
              <a:t>MCP integration</a:t>
            </a:r>
            <a:endParaRPr lang="en-US" sz="1130" dirty="0"/>
          </a:p>
        </p:txBody>
      </p:sp>
      <p:sp>
        <p:nvSpPr>
          <p:cNvPr id="32" name="Text 30"/>
          <p:cNvSpPr txBox="1"/>
          <p:nvPr/>
        </p:nvSpPr>
        <p:spPr>
          <a:xfrm>
            <a:off x="6702552" y="3054096"/>
            <a:ext cx="4526280" cy="20116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3657C"/>
                </a:solidFill>
                <a:latin typeface="Aptos" pitchFamily="34" charset="0"/>
                <a:ea typeface="Aptos" pitchFamily="34" charset="-122"/>
                <a:cs typeface="Aptos" pitchFamily="34" charset="-120"/>
              </a:rPr>
              <a:t>Connect to Microsoft Learn MCP</a:t>
            </a:r>
            <a:endParaRPr lang="en-US" sz="930" dirty="0"/>
          </a:p>
        </p:txBody>
      </p:sp>
      <p:sp>
        <p:nvSpPr>
          <p:cNvPr id="33" name="Shape 31"/>
          <p:cNvSpPr/>
          <p:nvPr/>
        </p:nvSpPr>
        <p:spPr>
          <a:xfrm>
            <a:off x="758952" y="4343400"/>
            <a:ext cx="10607040" cy="777240"/>
          </a:xfrm>
          <a:prstGeom prst="roundRect">
            <a:avLst>
              <a:gd name="adj" fmla="val 14118"/>
            </a:avLst>
          </a:prstGeom>
          <a:solidFill>
            <a:srgbClr val="FBEEDD"/>
          </a:solidFill>
          <a:ln w="10160">
            <a:solidFill>
              <a:srgbClr val="F4D5AC"/>
            </a:solidFill>
            <a:prstDash val="solid"/>
          </a:ln>
        </p:spPr>
      </p:sp>
      <p:sp>
        <p:nvSpPr>
          <p:cNvPr id="34" name="Text 32"/>
          <p:cNvSpPr txBox="1"/>
          <p:nvPr/>
        </p:nvSpPr>
        <p:spPr>
          <a:xfrm>
            <a:off x="960120" y="4553712"/>
            <a:ext cx="960120" cy="21945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92511E"/>
                </a:solidFill>
                <a:latin typeface="Aptos" pitchFamily="34" charset="0"/>
                <a:ea typeface="Aptos" pitchFamily="34" charset="-122"/>
                <a:cs typeface="Aptos" pitchFamily="34" charset="-120"/>
              </a:rPr>
              <a:t>Important</a:t>
            </a:r>
            <a:endParaRPr lang="en-US" sz="1200" dirty="0"/>
          </a:p>
        </p:txBody>
      </p:sp>
      <p:sp>
        <p:nvSpPr>
          <p:cNvPr id="35" name="Text 33"/>
          <p:cNvSpPr txBox="1"/>
          <p:nvPr/>
        </p:nvSpPr>
        <p:spPr>
          <a:xfrm>
            <a:off x="2029968" y="4517136"/>
            <a:ext cx="8887968" cy="292608"/>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B2A41"/>
                </a:solidFill>
                <a:latin typeface="Aptos" pitchFamily="34" charset="0"/>
                <a:ea typeface="Aptos" pitchFamily="34" charset="-122"/>
                <a:cs typeface="Aptos" pitchFamily="34" charset="-120"/>
              </a:rPr>
              <a:t>Labs may create separate sample projects. Reuse the concepts, then verify a single integrated agent and UI.</a:t>
            </a:r>
            <a:endParaRPr lang="en-US" sz="1200" dirty="0"/>
          </a:p>
        </p:txBody>
      </p:sp>
      <p:sp>
        <p:nvSpPr>
          <p:cNvPr id="36" name="Text 34"/>
          <p:cNvSpPr txBox="1"/>
          <p:nvPr/>
        </p:nvSpPr>
        <p:spPr>
          <a:xfrm>
            <a:off x="822960" y="5559552"/>
            <a:ext cx="10515600" cy="274320"/>
          </a:xfrm>
          <a:prstGeom prst="rect">
            <a:avLst/>
          </a:prstGeom>
          <a:noFill/>
          <a:ln/>
        </p:spPr>
        <p:txBody>
          <a:bodyPr wrap="square" lIns="0" tIns="0" rIns="0" bIns="0" rtlCol="0" anchor="ctr">
            <a:normAutofit/>
          </a:bodyPr>
          <a:lstStyle/>
          <a:p>
            <a:pPr algn="ctr" indent="0" marL="0">
              <a:lnSpc>
                <a:spcPct val="100000"/>
              </a:lnSpc>
              <a:buNone/>
            </a:pPr>
            <a:r>
              <a:rPr lang="en-US" sz="1030" dirty="0">
                <a:solidFill>
                  <a:srgbClr val="53657C"/>
                </a:solidFill>
                <a:latin typeface="Aptos" pitchFamily="34" charset="0"/>
                <a:ea typeface="Aptos" pitchFamily="34" charset="-122"/>
                <a:cs typeface="Aptos" pitchFamily="34" charset="-120"/>
              </a:rPr>
              <a:t>Official guide: learn.microsoft.com  •  microsoftlearning.github.io  •  ai.azure.com</a:t>
            </a:r>
            <a:endParaRPr lang="en-US" sz="103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08 / NEXT STEPS</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From starter package to a verified submission</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Complete the cloud-specific tasks and replace placeholders with evidence from your own run.</a:t>
            </a:r>
            <a:endParaRPr lang="en-US" sz="1200" dirty="0"/>
          </a:p>
        </p:txBody>
      </p:sp>
      <p:sp>
        <p:nvSpPr>
          <p:cNvPr id="5" name="Shape 3"/>
          <p:cNvSpPr/>
          <p:nvPr/>
        </p:nvSpPr>
        <p:spPr>
          <a:xfrm>
            <a:off x="704088" y="1737360"/>
            <a:ext cx="3456432" cy="1572768"/>
          </a:xfrm>
          <a:prstGeom prst="roundRect">
            <a:avLst>
              <a:gd name="adj" fmla="val 6977"/>
            </a:avLst>
          </a:prstGeom>
          <a:solidFill>
            <a:srgbClr val="FFFFFF"/>
          </a:solidFill>
          <a:ln w="10160">
            <a:solidFill>
              <a:srgbClr val="D8E2EE"/>
            </a:solidFill>
            <a:prstDash val="solid"/>
          </a:ln>
        </p:spPr>
      </p:sp>
      <p:sp>
        <p:nvSpPr>
          <p:cNvPr id="6" name="Shape 4"/>
          <p:cNvSpPr/>
          <p:nvPr/>
        </p:nvSpPr>
        <p:spPr>
          <a:xfrm>
            <a:off x="722376" y="1755648"/>
            <a:ext cx="64008" cy="1536192"/>
          </a:xfrm>
          <a:prstGeom prst="roundRect">
            <a:avLst>
              <a:gd name="adj" fmla="val 42857"/>
            </a:avLst>
          </a:prstGeom>
          <a:solidFill>
            <a:srgbClr val="168C91"/>
          </a:solidFill>
          <a:ln w="12700">
            <a:solidFill>
              <a:srgbClr val="168C91">
                <a:alpha val="0"/>
              </a:srgbClr>
            </a:solidFill>
            <a:prstDash val="solid"/>
          </a:ln>
        </p:spPr>
      </p:sp>
      <p:sp>
        <p:nvSpPr>
          <p:cNvPr id="7" name="Text 5"/>
          <p:cNvSpPr txBox="1"/>
          <p:nvPr/>
        </p:nvSpPr>
        <p:spPr>
          <a:xfrm>
            <a:off x="914400" y="187452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1. Configure</a:t>
            </a:r>
            <a:endParaRPr lang="en-US" sz="1600" dirty="0"/>
          </a:p>
        </p:txBody>
      </p:sp>
      <p:sp>
        <p:nvSpPr>
          <p:cNvPr id="8" name="Text 6"/>
          <p:cNvSpPr txBox="1"/>
          <p:nvPr/>
        </p:nvSpPr>
        <p:spPr>
          <a:xfrm>
            <a:off x="914400" y="2231136"/>
            <a:ext cx="3044952" cy="95097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53657C"/>
                </a:solidFill>
                <a:latin typeface="Aptos" pitchFamily="34" charset="0"/>
                <a:ea typeface="Aptos" pitchFamily="34" charset="-122"/>
                <a:cs typeface="Aptos" pitchFamily="34" charset="-120"/>
              </a:rPr>
              <a:t>Create the Foundry project, deploy an available model, configure agent instructions and tools.</a:t>
            </a:r>
            <a:endParaRPr lang="en-US" sz="1100" dirty="0"/>
          </a:p>
        </p:txBody>
      </p:sp>
      <p:sp>
        <p:nvSpPr>
          <p:cNvPr id="9" name="Shape 7"/>
          <p:cNvSpPr/>
          <p:nvPr/>
        </p:nvSpPr>
        <p:spPr>
          <a:xfrm>
            <a:off x="4370832" y="1737360"/>
            <a:ext cx="3456432" cy="1572768"/>
          </a:xfrm>
          <a:prstGeom prst="roundRect">
            <a:avLst>
              <a:gd name="adj" fmla="val 6977"/>
            </a:avLst>
          </a:prstGeom>
          <a:solidFill>
            <a:srgbClr val="FFFFFF"/>
          </a:solidFill>
          <a:ln w="10160">
            <a:solidFill>
              <a:srgbClr val="D8E2EE"/>
            </a:solidFill>
            <a:prstDash val="solid"/>
          </a:ln>
        </p:spPr>
      </p:sp>
      <p:sp>
        <p:nvSpPr>
          <p:cNvPr id="10" name="Shape 8"/>
          <p:cNvSpPr/>
          <p:nvPr/>
        </p:nvSpPr>
        <p:spPr>
          <a:xfrm>
            <a:off x="4389120" y="1755648"/>
            <a:ext cx="64008" cy="1536192"/>
          </a:xfrm>
          <a:prstGeom prst="roundRect">
            <a:avLst>
              <a:gd name="adj" fmla="val 42857"/>
            </a:avLst>
          </a:prstGeom>
          <a:solidFill>
            <a:srgbClr val="1D3557"/>
          </a:solidFill>
          <a:ln w="12700">
            <a:solidFill>
              <a:srgbClr val="1D3557">
                <a:alpha val="0"/>
              </a:srgbClr>
            </a:solidFill>
            <a:prstDash val="solid"/>
          </a:ln>
        </p:spPr>
      </p:sp>
      <p:sp>
        <p:nvSpPr>
          <p:cNvPr id="11" name="Text 9"/>
          <p:cNvSpPr txBox="1"/>
          <p:nvPr/>
        </p:nvSpPr>
        <p:spPr>
          <a:xfrm>
            <a:off x="4581144" y="187452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2. Integrate</a:t>
            </a:r>
            <a:endParaRPr lang="en-US" sz="1600" dirty="0"/>
          </a:p>
        </p:txBody>
      </p:sp>
      <p:sp>
        <p:nvSpPr>
          <p:cNvPr id="12" name="Text 10"/>
          <p:cNvSpPr txBox="1"/>
          <p:nvPr/>
        </p:nvSpPr>
        <p:spPr>
          <a:xfrm>
            <a:off x="4581144" y="2231136"/>
            <a:ext cx="3044952" cy="95097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53657C"/>
                </a:solidFill>
                <a:latin typeface="Aptos" pitchFamily="34" charset="0"/>
                <a:ea typeface="Aptos" pitchFamily="34" charset="-122"/>
                <a:cs typeface="Aptos" pitchFamily="34" charset="-120"/>
              </a:rPr>
              <a:t>Run the UI in live mode, verify identity/permissions, and inspect tool traces.</a:t>
            </a:r>
            <a:endParaRPr lang="en-US" sz="1100" dirty="0"/>
          </a:p>
        </p:txBody>
      </p:sp>
      <p:sp>
        <p:nvSpPr>
          <p:cNvPr id="13" name="Shape 11"/>
          <p:cNvSpPr/>
          <p:nvPr/>
        </p:nvSpPr>
        <p:spPr>
          <a:xfrm>
            <a:off x="8037576" y="1737360"/>
            <a:ext cx="3456432" cy="1572768"/>
          </a:xfrm>
          <a:prstGeom prst="roundRect">
            <a:avLst>
              <a:gd name="adj" fmla="val 6977"/>
            </a:avLst>
          </a:prstGeom>
          <a:solidFill>
            <a:srgbClr val="FFFFFF"/>
          </a:solidFill>
          <a:ln w="10160">
            <a:solidFill>
              <a:srgbClr val="D8E2EE"/>
            </a:solidFill>
            <a:prstDash val="solid"/>
          </a:ln>
        </p:spPr>
      </p:sp>
      <p:sp>
        <p:nvSpPr>
          <p:cNvPr id="14" name="Shape 12"/>
          <p:cNvSpPr/>
          <p:nvPr/>
        </p:nvSpPr>
        <p:spPr>
          <a:xfrm>
            <a:off x="8055864" y="1755648"/>
            <a:ext cx="64008" cy="1536192"/>
          </a:xfrm>
          <a:prstGeom prst="roundRect">
            <a:avLst>
              <a:gd name="adj" fmla="val 42857"/>
            </a:avLst>
          </a:prstGeom>
          <a:solidFill>
            <a:srgbClr val="F4A261"/>
          </a:solidFill>
          <a:ln w="12700">
            <a:solidFill>
              <a:srgbClr val="F4A261">
                <a:alpha val="0"/>
              </a:srgbClr>
            </a:solidFill>
            <a:prstDash val="solid"/>
          </a:ln>
        </p:spPr>
      </p:sp>
      <p:sp>
        <p:nvSpPr>
          <p:cNvPr id="15" name="Text 13"/>
          <p:cNvSpPr txBox="1"/>
          <p:nvPr/>
        </p:nvSpPr>
        <p:spPr>
          <a:xfrm>
            <a:off x="8247888" y="1874520"/>
            <a:ext cx="3063240" cy="29260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3213C"/>
                </a:solidFill>
                <a:latin typeface="Aptos" pitchFamily="34" charset="0"/>
                <a:ea typeface="Aptos" pitchFamily="34" charset="-122"/>
                <a:cs typeface="Aptos" pitchFamily="34" charset="-120"/>
              </a:rPr>
              <a:t>3. Validate</a:t>
            </a:r>
            <a:endParaRPr lang="en-US" sz="1600" dirty="0"/>
          </a:p>
        </p:txBody>
      </p:sp>
      <p:sp>
        <p:nvSpPr>
          <p:cNvPr id="16" name="Text 14"/>
          <p:cNvSpPr txBox="1"/>
          <p:nvPr/>
        </p:nvSpPr>
        <p:spPr>
          <a:xfrm>
            <a:off x="8247888" y="2231136"/>
            <a:ext cx="3044952" cy="95097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53657C"/>
                </a:solidFill>
                <a:latin typeface="Aptos" pitchFamily="34" charset="0"/>
                <a:ea typeface="Aptos" pitchFamily="34" charset="-122"/>
                <a:cs typeface="Aptos" pitchFamily="34" charset="-120"/>
              </a:rPr>
              <a:t>Run test cases, record actual evaluation metrics, and check numeric outputs.</a:t>
            </a:r>
            <a:endParaRPr lang="en-US" sz="1100" dirty="0"/>
          </a:p>
        </p:txBody>
      </p:sp>
      <p:sp>
        <p:nvSpPr>
          <p:cNvPr id="17" name="Text 15"/>
          <p:cNvSpPr txBox="1"/>
          <p:nvPr/>
        </p:nvSpPr>
        <p:spPr>
          <a:xfrm>
            <a:off x="777240" y="3703320"/>
            <a:ext cx="182880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13213C"/>
                </a:solidFill>
                <a:latin typeface="Aptos" pitchFamily="34" charset="0"/>
                <a:ea typeface="Aptos" pitchFamily="34" charset="-122"/>
                <a:cs typeface="Aptos" pitchFamily="34" charset="-120"/>
              </a:rPr>
              <a:t>Submission package</a:t>
            </a:r>
            <a:endParaRPr lang="en-US" sz="1300" dirty="0"/>
          </a:p>
        </p:txBody>
      </p:sp>
      <p:sp>
        <p:nvSpPr>
          <p:cNvPr id="18" name="Shape 16"/>
          <p:cNvSpPr/>
          <p:nvPr/>
        </p:nvSpPr>
        <p:spPr>
          <a:xfrm>
            <a:off x="850392" y="4160520"/>
            <a:ext cx="201168" cy="201168"/>
          </a:xfrm>
          <a:prstGeom prst="ellipse">
            <a:avLst/>
          </a:prstGeom>
          <a:solidFill>
            <a:srgbClr val="168C91"/>
          </a:solidFill>
          <a:ln w="12700">
            <a:solidFill>
              <a:srgbClr val="168C91"/>
            </a:solidFill>
            <a:prstDash val="solid"/>
          </a:ln>
        </p:spPr>
      </p:sp>
      <p:sp>
        <p:nvSpPr>
          <p:cNvPr id="19" name="Text 17"/>
          <p:cNvSpPr txBox="1"/>
          <p:nvPr/>
        </p:nvSpPr>
        <p:spPr>
          <a:xfrm>
            <a:off x="1207008" y="4133088"/>
            <a:ext cx="9601200" cy="237744"/>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B2A41"/>
                </a:solidFill>
                <a:latin typeface="Aptos" pitchFamily="34" charset="0"/>
                <a:ea typeface="Aptos" pitchFamily="34" charset="-122"/>
                <a:cs typeface="Aptos" pitchFamily="34" charset="-120"/>
              </a:rPr>
              <a:t>GitHub repository with real team contributions</a:t>
            </a:r>
            <a:endParaRPr lang="en-US" sz="1200" dirty="0"/>
          </a:p>
        </p:txBody>
      </p:sp>
      <p:sp>
        <p:nvSpPr>
          <p:cNvPr id="20" name="Shape 18"/>
          <p:cNvSpPr/>
          <p:nvPr/>
        </p:nvSpPr>
        <p:spPr>
          <a:xfrm>
            <a:off x="850392" y="4617720"/>
            <a:ext cx="201168" cy="201168"/>
          </a:xfrm>
          <a:prstGeom prst="ellipse">
            <a:avLst/>
          </a:prstGeom>
          <a:solidFill>
            <a:srgbClr val="168C91"/>
          </a:solidFill>
          <a:ln w="12700">
            <a:solidFill>
              <a:srgbClr val="168C91"/>
            </a:solidFill>
            <a:prstDash val="solid"/>
          </a:ln>
        </p:spPr>
      </p:sp>
      <p:sp>
        <p:nvSpPr>
          <p:cNvPr id="21" name="Text 19"/>
          <p:cNvSpPr txBox="1"/>
          <p:nvPr/>
        </p:nvSpPr>
        <p:spPr>
          <a:xfrm>
            <a:off x="1207008" y="4590288"/>
            <a:ext cx="9601200" cy="237744"/>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B2A41"/>
                </a:solidFill>
                <a:latin typeface="Aptos" pitchFamily="34" charset="0"/>
                <a:ea typeface="Aptos" pitchFamily="34" charset="-122"/>
                <a:cs typeface="Aptos" pitchFamily="34" charset="-120"/>
              </a:rPr>
              <a:t>Report with architecture, actual test evidence, limitations, and references</a:t>
            </a:r>
            <a:endParaRPr lang="en-US" sz="1200" dirty="0"/>
          </a:p>
        </p:txBody>
      </p:sp>
      <p:sp>
        <p:nvSpPr>
          <p:cNvPr id="22" name="Shape 20"/>
          <p:cNvSpPr/>
          <p:nvPr/>
        </p:nvSpPr>
        <p:spPr>
          <a:xfrm>
            <a:off x="850392" y="5074920"/>
            <a:ext cx="201168" cy="201168"/>
          </a:xfrm>
          <a:prstGeom prst="ellipse">
            <a:avLst/>
          </a:prstGeom>
          <a:solidFill>
            <a:srgbClr val="168C91"/>
          </a:solidFill>
          <a:ln w="12700">
            <a:solidFill>
              <a:srgbClr val="168C91"/>
            </a:solidFill>
            <a:prstDash val="solid"/>
          </a:ln>
        </p:spPr>
      </p:sp>
      <p:sp>
        <p:nvSpPr>
          <p:cNvPr id="23" name="Text 21"/>
          <p:cNvSpPr txBox="1"/>
          <p:nvPr/>
        </p:nvSpPr>
        <p:spPr>
          <a:xfrm>
            <a:off x="1207008" y="5047488"/>
            <a:ext cx="9601200" cy="237744"/>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B2A41"/>
                </a:solidFill>
                <a:latin typeface="Aptos" pitchFamily="34" charset="0"/>
                <a:ea typeface="Aptos" pitchFamily="34" charset="-122"/>
                <a:cs typeface="Aptos" pitchFamily="34" charset="-120"/>
              </a:rPr>
              <a:t>Presentation with screenshots from the working system</a:t>
            </a:r>
            <a:endParaRPr lang="en-US" sz="1200" dirty="0"/>
          </a:p>
        </p:txBody>
      </p:sp>
      <p:sp>
        <p:nvSpPr>
          <p:cNvPr id="24" name="Shape 22"/>
          <p:cNvSpPr/>
          <p:nvPr/>
        </p:nvSpPr>
        <p:spPr>
          <a:xfrm>
            <a:off x="749808" y="5632704"/>
            <a:ext cx="10698480" cy="411480"/>
          </a:xfrm>
          <a:prstGeom prst="roundRect">
            <a:avLst>
              <a:gd name="adj" fmla="val 26667"/>
            </a:avLst>
          </a:prstGeom>
          <a:solidFill>
            <a:srgbClr val="13213C"/>
          </a:solidFill>
          <a:ln w="12700">
            <a:solidFill>
              <a:srgbClr val="13213C"/>
            </a:solidFill>
            <a:prstDash val="solid"/>
          </a:ln>
        </p:spPr>
      </p:sp>
      <p:sp>
        <p:nvSpPr>
          <p:cNvPr id="25" name="Text 23"/>
          <p:cNvSpPr txBox="1"/>
          <p:nvPr/>
        </p:nvSpPr>
        <p:spPr>
          <a:xfrm>
            <a:off x="950976" y="5724144"/>
            <a:ext cx="10287000" cy="201168"/>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Principle: show what works, document what failed, and never invent results.</a:t>
            </a:r>
            <a:endParaRPr lang="en-US" sz="120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347472"/>
            <a:ext cx="10881360" cy="228600"/>
          </a:xfrm>
          <a:prstGeom prst="rect">
            <a:avLst/>
          </a:prstGeom>
          <a:noFill/>
          <a:ln/>
        </p:spPr>
        <p:txBody>
          <a:bodyPr wrap="square" lIns="0" tIns="0" rIns="0" bIns="0" rtlCol="0" anchor="ctr">
            <a:normAutofit/>
          </a:bodyPr>
          <a:lstStyle/>
          <a:p>
            <a:pPr algn="l" indent="0" marL="0">
              <a:lnSpc>
                <a:spcPct val="100000"/>
              </a:lnSpc>
              <a:buNone/>
            </a:pPr>
            <a:r>
              <a:rPr lang="en-US" sz="900" b="1" spc="170" kern="0" dirty="0">
                <a:solidFill>
                  <a:srgbClr val="168C91"/>
                </a:solidFill>
                <a:latin typeface="Aptos" pitchFamily="34" charset="0"/>
                <a:ea typeface="Aptos" pitchFamily="34" charset="-122"/>
                <a:cs typeface="Aptos" pitchFamily="34" charset="-120"/>
              </a:rPr>
              <a:t>REFERENCES</a:t>
            </a:r>
            <a:endParaRPr lang="en-US" sz="900" dirty="0"/>
          </a:p>
        </p:txBody>
      </p:sp>
      <p:sp>
        <p:nvSpPr>
          <p:cNvPr id="3" name="Text 1"/>
          <p:cNvSpPr txBox="1"/>
          <p:nvPr/>
        </p:nvSpPr>
        <p:spPr>
          <a:xfrm>
            <a:off x="594360" y="658368"/>
            <a:ext cx="1097280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13C"/>
                </a:solidFill>
                <a:latin typeface="Aptos Display" pitchFamily="34" charset="0"/>
                <a:ea typeface="Aptos Display" pitchFamily="34" charset="-122"/>
                <a:cs typeface="Aptos Display" pitchFamily="34" charset="-120"/>
              </a:rPr>
              <a:t>Official Microsoft learning resources</a:t>
            </a:r>
            <a:endParaRPr lang="en-US" sz="2700" dirty="0"/>
          </a:p>
        </p:txBody>
      </p:sp>
      <p:sp>
        <p:nvSpPr>
          <p:cNvPr id="4" name="Text 2"/>
          <p:cNvSpPr txBox="1"/>
          <p:nvPr/>
        </p:nvSpPr>
        <p:spPr>
          <a:xfrm>
            <a:off x="621792" y="1207008"/>
            <a:ext cx="10789920" cy="34747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3657C"/>
                </a:solidFill>
                <a:latin typeface="Aptos" pitchFamily="34" charset="0"/>
                <a:ea typeface="Aptos" pitchFamily="34" charset="-122"/>
                <a:cs typeface="Aptos" pitchFamily="34" charset="-120"/>
              </a:rPr>
              <a:t>Use the exact exercises assigned by the college; portal labels and supported models may evolve.</a:t>
            </a:r>
            <a:endParaRPr lang="en-US" sz="1200" dirty="0"/>
          </a:p>
        </p:txBody>
      </p:sp>
      <p:sp>
        <p:nvSpPr>
          <p:cNvPr id="5" name="Shape 3"/>
          <p:cNvSpPr/>
          <p:nvPr/>
        </p:nvSpPr>
        <p:spPr>
          <a:xfrm>
            <a:off x="795528" y="1705356"/>
            <a:ext cx="338328" cy="338328"/>
          </a:xfrm>
          <a:prstGeom prst="ellipse">
            <a:avLst/>
          </a:prstGeom>
          <a:solidFill>
            <a:srgbClr val="168C91"/>
          </a:solidFill>
          <a:ln w="12700">
            <a:solidFill>
              <a:srgbClr val="168C91"/>
            </a:solidFill>
            <a:prstDash val="solid"/>
          </a:ln>
        </p:spPr>
      </p:sp>
      <p:sp>
        <p:nvSpPr>
          <p:cNvPr id="6" name="Text 4"/>
          <p:cNvSpPr txBox="1"/>
          <p:nvPr/>
        </p:nvSpPr>
        <p:spPr>
          <a:xfrm>
            <a:off x="822960" y="1773936"/>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01</a:t>
            </a:r>
            <a:endParaRPr lang="en-US" sz="850" dirty="0"/>
          </a:p>
        </p:txBody>
      </p:sp>
      <p:sp>
        <p:nvSpPr>
          <p:cNvPr id="7" name="Text 5"/>
          <p:cNvSpPr txBox="1"/>
          <p:nvPr/>
        </p:nvSpPr>
        <p:spPr>
          <a:xfrm>
            <a:off x="1325880" y="1691640"/>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Prepare for an AI development project</a:t>
            </a:r>
            <a:endParaRPr lang="en-US" sz="1120" dirty="0"/>
          </a:p>
        </p:txBody>
      </p:sp>
      <p:sp>
        <p:nvSpPr>
          <p:cNvPr id="8" name="Text 6"/>
          <p:cNvSpPr txBox="1"/>
          <p:nvPr/>
        </p:nvSpPr>
        <p:spPr>
          <a:xfrm>
            <a:off x="5623560" y="1691640"/>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microsoftlearning.github.io/mslearn-ai-studio/…/01-Explore-ai-studio.html</a:t>
            </a:r>
            <a:endParaRPr lang="en-US" sz="960" dirty="0"/>
          </a:p>
        </p:txBody>
      </p:sp>
      <p:sp>
        <p:nvSpPr>
          <p:cNvPr id="9" name="Shape 7"/>
          <p:cNvSpPr/>
          <p:nvPr/>
        </p:nvSpPr>
        <p:spPr>
          <a:xfrm>
            <a:off x="795528" y="2263140"/>
            <a:ext cx="338328" cy="338328"/>
          </a:xfrm>
          <a:prstGeom prst="ellipse">
            <a:avLst/>
          </a:prstGeom>
          <a:solidFill>
            <a:srgbClr val="1D3557"/>
          </a:solidFill>
          <a:ln w="12700">
            <a:solidFill>
              <a:srgbClr val="1D3557"/>
            </a:solidFill>
            <a:prstDash val="solid"/>
          </a:ln>
        </p:spPr>
      </p:sp>
      <p:sp>
        <p:nvSpPr>
          <p:cNvPr id="10" name="Text 8"/>
          <p:cNvSpPr txBox="1"/>
          <p:nvPr/>
        </p:nvSpPr>
        <p:spPr>
          <a:xfrm>
            <a:off x="822960" y="2331720"/>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02</a:t>
            </a:r>
            <a:endParaRPr lang="en-US" sz="850" dirty="0"/>
          </a:p>
        </p:txBody>
      </p:sp>
      <p:sp>
        <p:nvSpPr>
          <p:cNvPr id="11" name="Text 9"/>
          <p:cNvSpPr txBox="1"/>
          <p:nvPr/>
        </p:nvSpPr>
        <p:spPr>
          <a:xfrm>
            <a:off x="1325880" y="2249424"/>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Explore and compare models</a:t>
            </a:r>
            <a:endParaRPr lang="en-US" sz="1120" dirty="0"/>
          </a:p>
        </p:txBody>
      </p:sp>
      <p:sp>
        <p:nvSpPr>
          <p:cNvPr id="12" name="Text 10"/>
          <p:cNvSpPr txBox="1"/>
          <p:nvPr/>
        </p:nvSpPr>
        <p:spPr>
          <a:xfrm>
            <a:off x="5623560" y="2249424"/>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microsoftlearning.github.io/mslearn-ai-studio/…/02-model-catalog-evaluation.html</a:t>
            </a:r>
            <a:endParaRPr lang="en-US" sz="960" dirty="0"/>
          </a:p>
        </p:txBody>
      </p:sp>
      <p:sp>
        <p:nvSpPr>
          <p:cNvPr id="13" name="Shape 11"/>
          <p:cNvSpPr/>
          <p:nvPr/>
        </p:nvSpPr>
        <p:spPr>
          <a:xfrm>
            <a:off x="795528" y="2820924"/>
            <a:ext cx="338328" cy="338328"/>
          </a:xfrm>
          <a:prstGeom prst="ellipse">
            <a:avLst/>
          </a:prstGeom>
          <a:solidFill>
            <a:srgbClr val="168C91"/>
          </a:solidFill>
          <a:ln w="12700">
            <a:solidFill>
              <a:srgbClr val="168C91"/>
            </a:solidFill>
            <a:prstDash val="solid"/>
          </a:ln>
        </p:spPr>
      </p:sp>
      <p:sp>
        <p:nvSpPr>
          <p:cNvPr id="14" name="Text 12"/>
          <p:cNvSpPr txBox="1"/>
          <p:nvPr/>
        </p:nvSpPr>
        <p:spPr>
          <a:xfrm>
            <a:off x="822960" y="2889504"/>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03</a:t>
            </a:r>
            <a:endParaRPr lang="en-US" sz="850" dirty="0"/>
          </a:p>
        </p:txBody>
      </p:sp>
      <p:sp>
        <p:nvSpPr>
          <p:cNvPr id="15" name="Text 13"/>
          <p:cNvSpPr txBox="1"/>
          <p:nvPr/>
        </p:nvSpPr>
        <p:spPr>
          <a:xfrm>
            <a:off x="1325880" y="2807208"/>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Create a generative AI app that uses tools</a:t>
            </a:r>
            <a:endParaRPr lang="en-US" sz="1120" dirty="0"/>
          </a:p>
        </p:txBody>
      </p:sp>
      <p:sp>
        <p:nvSpPr>
          <p:cNvPr id="16" name="Text 14"/>
          <p:cNvSpPr txBox="1"/>
          <p:nvPr/>
        </p:nvSpPr>
        <p:spPr>
          <a:xfrm>
            <a:off x="5623560" y="2807208"/>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microsoftlearning.github.io/mslearn-ai-studio/…/04a-use-own-data.html</a:t>
            </a:r>
            <a:endParaRPr lang="en-US" sz="960" dirty="0"/>
          </a:p>
        </p:txBody>
      </p:sp>
      <p:sp>
        <p:nvSpPr>
          <p:cNvPr id="17" name="Shape 15"/>
          <p:cNvSpPr/>
          <p:nvPr/>
        </p:nvSpPr>
        <p:spPr>
          <a:xfrm>
            <a:off x="795528" y="3378708"/>
            <a:ext cx="338328" cy="338328"/>
          </a:xfrm>
          <a:prstGeom prst="ellipse">
            <a:avLst/>
          </a:prstGeom>
          <a:solidFill>
            <a:srgbClr val="1D3557"/>
          </a:solidFill>
          <a:ln w="12700">
            <a:solidFill>
              <a:srgbClr val="1D3557"/>
            </a:solidFill>
            <a:prstDash val="solid"/>
          </a:ln>
        </p:spPr>
      </p:sp>
      <p:sp>
        <p:nvSpPr>
          <p:cNvPr id="18" name="Text 16"/>
          <p:cNvSpPr txBox="1"/>
          <p:nvPr/>
        </p:nvSpPr>
        <p:spPr>
          <a:xfrm>
            <a:off x="822960" y="3447288"/>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04</a:t>
            </a:r>
            <a:endParaRPr lang="en-US" sz="850" dirty="0"/>
          </a:p>
        </p:txBody>
      </p:sp>
      <p:sp>
        <p:nvSpPr>
          <p:cNvPr id="19" name="Text 17"/>
          <p:cNvSpPr txBox="1"/>
          <p:nvPr/>
        </p:nvSpPr>
        <p:spPr>
          <a:xfrm>
            <a:off x="1325880" y="3364992"/>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Apply guardrails to prevent harmful content</a:t>
            </a:r>
            <a:endParaRPr lang="en-US" sz="1120" dirty="0"/>
          </a:p>
        </p:txBody>
      </p:sp>
      <p:sp>
        <p:nvSpPr>
          <p:cNvPr id="20" name="Text 18"/>
          <p:cNvSpPr txBox="1"/>
          <p:nvPr/>
        </p:nvSpPr>
        <p:spPr>
          <a:xfrm>
            <a:off x="5623560" y="3364992"/>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microsoftlearning.github.io/mslearn-ai-studio/…/06-Explore-content-filters.html</a:t>
            </a:r>
            <a:endParaRPr lang="en-US" sz="960" dirty="0"/>
          </a:p>
        </p:txBody>
      </p:sp>
      <p:sp>
        <p:nvSpPr>
          <p:cNvPr id="21" name="Shape 19"/>
          <p:cNvSpPr/>
          <p:nvPr/>
        </p:nvSpPr>
        <p:spPr>
          <a:xfrm>
            <a:off x="795528" y="3936492"/>
            <a:ext cx="338328" cy="338328"/>
          </a:xfrm>
          <a:prstGeom prst="ellipse">
            <a:avLst/>
          </a:prstGeom>
          <a:solidFill>
            <a:srgbClr val="168C91"/>
          </a:solidFill>
          <a:ln w="12700">
            <a:solidFill>
              <a:srgbClr val="168C91"/>
            </a:solidFill>
            <a:prstDash val="solid"/>
          </a:ln>
        </p:spPr>
      </p:sp>
      <p:sp>
        <p:nvSpPr>
          <p:cNvPr id="22" name="Text 20"/>
          <p:cNvSpPr txBox="1"/>
          <p:nvPr/>
        </p:nvSpPr>
        <p:spPr>
          <a:xfrm>
            <a:off x="822960" y="4005072"/>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05</a:t>
            </a:r>
            <a:endParaRPr lang="en-US" sz="850" dirty="0"/>
          </a:p>
        </p:txBody>
      </p:sp>
      <p:sp>
        <p:nvSpPr>
          <p:cNvPr id="23" name="Text 21"/>
          <p:cNvSpPr txBox="1"/>
          <p:nvPr/>
        </p:nvSpPr>
        <p:spPr>
          <a:xfrm>
            <a:off x="1325880" y="3922776"/>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Build AI agents with portal and VS Code</a:t>
            </a:r>
            <a:endParaRPr lang="en-US" sz="1120" dirty="0"/>
          </a:p>
        </p:txBody>
      </p:sp>
      <p:sp>
        <p:nvSpPr>
          <p:cNvPr id="24" name="Text 22"/>
          <p:cNvSpPr txBox="1"/>
          <p:nvPr/>
        </p:nvSpPr>
        <p:spPr>
          <a:xfrm>
            <a:off x="5623560" y="3922776"/>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microsoftlearning.github.io/mslearn-ai-agents/…/01-build-agent-portal-and-vscode.html</a:t>
            </a:r>
            <a:endParaRPr lang="en-US" sz="960" dirty="0"/>
          </a:p>
        </p:txBody>
      </p:sp>
      <p:sp>
        <p:nvSpPr>
          <p:cNvPr id="25" name="Shape 23"/>
          <p:cNvSpPr/>
          <p:nvPr/>
        </p:nvSpPr>
        <p:spPr>
          <a:xfrm>
            <a:off x="795528" y="4494276"/>
            <a:ext cx="338328" cy="338328"/>
          </a:xfrm>
          <a:prstGeom prst="ellipse">
            <a:avLst/>
          </a:prstGeom>
          <a:solidFill>
            <a:srgbClr val="1D3557"/>
          </a:solidFill>
          <a:ln w="12700">
            <a:solidFill>
              <a:srgbClr val="1D3557"/>
            </a:solidFill>
            <a:prstDash val="solid"/>
          </a:ln>
        </p:spPr>
      </p:sp>
      <p:sp>
        <p:nvSpPr>
          <p:cNvPr id="26" name="Text 24"/>
          <p:cNvSpPr txBox="1"/>
          <p:nvPr/>
        </p:nvSpPr>
        <p:spPr>
          <a:xfrm>
            <a:off x="822960" y="4562856"/>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06</a:t>
            </a:r>
            <a:endParaRPr lang="en-US" sz="850" dirty="0"/>
          </a:p>
        </p:txBody>
      </p:sp>
      <p:sp>
        <p:nvSpPr>
          <p:cNvPr id="27" name="Text 25"/>
          <p:cNvSpPr txBox="1"/>
          <p:nvPr/>
        </p:nvSpPr>
        <p:spPr>
          <a:xfrm>
            <a:off x="1325880" y="4480560"/>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Develop AI agents in Azure with VS Code</a:t>
            </a:r>
            <a:endParaRPr lang="en-US" sz="1120" dirty="0"/>
          </a:p>
        </p:txBody>
      </p:sp>
      <p:sp>
        <p:nvSpPr>
          <p:cNvPr id="28" name="Text 26"/>
          <p:cNvSpPr txBox="1"/>
          <p:nvPr/>
        </p:nvSpPr>
        <p:spPr>
          <a:xfrm>
            <a:off x="5623560" y="4480560"/>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learn.microsoft.com/en-us/training/modules/develop-ai-agents-azure-vs-code/</a:t>
            </a:r>
            <a:endParaRPr lang="en-US" sz="960" dirty="0"/>
          </a:p>
        </p:txBody>
      </p:sp>
      <p:sp>
        <p:nvSpPr>
          <p:cNvPr id="29" name="Shape 27"/>
          <p:cNvSpPr/>
          <p:nvPr/>
        </p:nvSpPr>
        <p:spPr>
          <a:xfrm>
            <a:off x="795528" y="5052060"/>
            <a:ext cx="338328" cy="338328"/>
          </a:xfrm>
          <a:prstGeom prst="ellipse">
            <a:avLst/>
          </a:prstGeom>
          <a:solidFill>
            <a:srgbClr val="168C91"/>
          </a:solidFill>
          <a:ln w="12700">
            <a:solidFill>
              <a:srgbClr val="168C91"/>
            </a:solidFill>
            <a:prstDash val="solid"/>
          </a:ln>
        </p:spPr>
      </p:sp>
      <p:sp>
        <p:nvSpPr>
          <p:cNvPr id="30" name="Text 28"/>
          <p:cNvSpPr txBox="1"/>
          <p:nvPr/>
        </p:nvSpPr>
        <p:spPr>
          <a:xfrm>
            <a:off x="822960" y="5120640"/>
            <a:ext cx="283464" cy="164592"/>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07</a:t>
            </a:r>
            <a:endParaRPr lang="en-US" sz="850" dirty="0"/>
          </a:p>
        </p:txBody>
      </p:sp>
      <p:sp>
        <p:nvSpPr>
          <p:cNvPr id="31" name="Text 29"/>
          <p:cNvSpPr txBox="1"/>
          <p:nvPr/>
        </p:nvSpPr>
        <p:spPr>
          <a:xfrm>
            <a:off x="1325880" y="5038344"/>
            <a:ext cx="4389120" cy="237744"/>
          </a:xfrm>
          <a:prstGeom prst="rect">
            <a:avLst/>
          </a:prstGeom>
          <a:noFill/>
          <a:ln/>
        </p:spPr>
        <p:txBody>
          <a:bodyPr wrap="square" lIns="0" tIns="0" rIns="0" bIns="0" rtlCol="0" anchor="ctr">
            <a:normAutofit/>
          </a:bodyPr>
          <a:lstStyle/>
          <a:p>
            <a:pPr algn="l" indent="0" marL="0">
              <a:lnSpc>
                <a:spcPct val="100000"/>
              </a:lnSpc>
              <a:buNone/>
            </a:pPr>
            <a:r>
              <a:rPr lang="en-US" sz="1120" b="1" dirty="0">
                <a:solidFill>
                  <a:srgbClr val="13213C"/>
                </a:solidFill>
                <a:latin typeface="Aptos" pitchFamily="34" charset="0"/>
                <a:ea typeface="Aptos" pitchFamily="34" charset="-122"/>
                <a:cs typeface="Aptos" pitchFamily="34" charset="-120"/>
              </a:rPr>
              <a:t>Extend agents with Model Context Protocol tools</a:t>
            </a:r>
            <a:endParaRPr lang="en-US" sz="1120" dirty="0"/>
          </a:p>
        </p:txBody>
      </p:sp>
      <p:sp>
        <p:nvSpPr>
          <p:cNvPr id="32" name="Text 30"/>
          <p:cNvSpPr txBox="1"/>
          <p:nvPr/>
        </p:nvSpPr>
        <p:spPr>
          <a:xfrm>
            <a:off x="5623560" y="5038344"/>
            <a:ext cx="5577840" cy="256032"/>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3657C"/>
                </a:solidFill>
                <a:latin typeface="Aptos" pitchFamily="34" charset="0"/>
                <a:ea typeface="Aptos" pitchFamily="34" charset="-122"/>
                <a:cs typeface="Aptos" pitchFamily="34" charset="-120"/>
              </a:rPr>
              <a:t>microsoftlearning.github.io/mslearn-ai-agents/…/03-mcp-integration.html</a:t>
            </a:r>
            <a:endParaRPr lang="en-US" sz="960" dirty="0"/>
          </a:p>
        </p:txBody>
      </p:sp>
      <p:sp>
        <p:nvSpPr>
          <p:cNvPr id="33" name="Text 31"/>
          <p:cNvSpPr txBox="1"/>
          <p:nvPr/>
        </p:nvSpPr>
        <p:spPr>
          <a:xfrm>
            <a:off x="804672" y="5870448"/>
            <a:ext cx="10561320" cy="256032"/>
          </a:xfrm>
          <a:prstGeom prst="rect">
            <a:avLst/>
          </a:prstGeom>
          <a:noFill/>
          <a:ln/>
        </p:spPr>
        <p:txBody>
          <a:bodyPr wrap="square" lIns="0" tIns="0" rIns="0" bIns="0" rtlCol="0" anchor="ctr">
            <a:normAutofit/>
          </a:bodyPr>
          <a:lstStyle/>
          <a:p>
            <a:pPr algn="ctr" indent="0" marL="0">
              <a:lnSpc>
                <a:spcPct val="100000"/>
              </a:lnSpc>
              <a:buNone/>
            </a:pPr>
            <a:r>
              <a:rPr lang="en-US" sz="1050" i="1" dirty="0">
                <a:solidFill>
                  <a:srgbClr val="A94A3A"/>
                </a:solidFill>
                <a:latin typeface="Aptos" pitchFamily="34" charset="0"/>
                <a:ea typeface="Aptos" pitchFamily="34" charset="-122"/>
                <a:cs typeface="Aptos" pitchFamily="34" charset="-120"/>
              </a:rPr>
              <a:t>Project topic is proposed; confirm with the instructor before treating it as the approved team topic.</a:t>
            </a:r>
            <a:endParaRPr lang="en-US" sz="1050" dirty="0"/>
          </a:p>
        </p:txBody>
      </p:sp>
      <p:sp>
        <p:nvSpPr>
          <p:cNvPr id="25" name="Slide Number Placeholder 0"/>
          <p:cNvSpPr>
            <a:spLocks noGrp="1"/>
          </p:cNvSpPr>
          <p:nvPr>
            <p:ph type="sldNum" sz="quarter" idx="4294967295"/>
          </p:nvPr>
        </p:nvSpPr>
        <p:spPr>
          <a:xfrm>
            <a:off x="1110996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07086"/>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Sreenidhi Institute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ProjectPilot AI — Phase I</dc:title>
  <dc:subject>Agentic AI and Data Engineering — Phase I</dc:subject>
  <dc:creator>Project Team</dc:creator>
  <cp:lastModifiedBy>Project Team</cp:lastModifiedBy>
  <cp:revision>1</cp:revision>
  <dcterms:created xsi:type="dcterms:W3CDTF">2026-10-13T15:50:32Z</dcterms:created>
  <dcterms:modified xsi:type="dcterms:W3CDTF">2026-10-13T15:50:32Z</dcterms:modified>
</cp:coreProperties>
</file>